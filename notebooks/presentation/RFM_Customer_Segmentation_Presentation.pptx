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topic is RFM Customer Segmentation using K-Means Clustering. Customer segmentation is an important business analytics technique used to divide customers into meaningful groups based on purchasing behavior. In this project, we use RFM analysis, which measures customer activity through Recency, Frequency and Monetary values, together with K-Means clustering, an unsupervised machine learning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businesses use the same marketing strategy for all customers. However, customers behave differently. Some customers purchase frequently and spend large amounts. Others purchase only once or become inactive over time. Without segmentation, businesses may waste marketing resources. Therefore, our project aims to create a data-driven customer segmentation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of our project are first, to analyze customer transaction behavior. Second, to calculate RFM metrics including Recency, Frequency and Monetary values. Third, to apply K-Means clustering to discover customer groups. Finally, we aim to interpret these groups to support personalized marketing and business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plan to use the Online Retail Dataset available from the UCI Machine Learning Repository and Kaggle. The dataset contains transactional customer purchase records. Important variables include Customer ID, invoice date, quantity, invoice number and unit price. These attributes will be used to construct our RFM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begins with data collection and cleaning. Missing values, invalid quantities and incorrect records will be handled. Next, we create the RFM table. Recency measures how recently a customer purchased. Frequency measures how often a customer purchased. Monetary measures total customer spending. The RFM values are then scaled before clustering. We use the Elbow Method and Silhouette Score to determine the optimal number of clusters. Finally, K-Means clustering is applied to identify customer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expect the project to generate several meaningful customer segments. These may include champions, loyal customers, new customers, at-risk customers and low-value customers. The segmentation can help businesses personalize promotions, improve customer retention and optimize marketing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combines RFM analysis and K-Means clustering for customer behavior analytics. The approach helps businesses understand customers more effectively and supports data-driven marketing decisions. In the next phase, we will implement the model, validate clusters, visualize results, and optionally add a Streamlit dashboard.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6355080"/>
            <a:ext cx="12191695" cy="502920"/>
          </a:xfrm>
          <a:prstGeom prst="rect">
            <a:avLst/>
          </a:prstGeom>
          <a:solidFill>
            <a:srgbClr val="14365D"/>
          </a:solidFill>
          <a:ln w="12700">
            <a:solidFill>
              <a:srgbClr val="14365D">
                <a:alpha val="0"/>
              </a:srgbClr>
            </a:solidFill>
            <a:prstDash val="solid"/>
          </a:ln>
        </p:spPr>
      </p:sp>
      <p:sp>
        <p:nvSpPr>
          <p:cNvPr id="4" name="Shape 2"/>
          <p:cNvSpPr/>
          <p:nvPr/>
        </p:nvSpPr>
        <p:spPr>
          <a:xfrm>
            <a:off x="7406640" y="548640"/>
            <a:ext cx="1645920" cy="1645920"/>
          </a:xfrm>
          <a:prstGeom prst="arc">
            <a:avLst/>
          </a:prstGeom>
          <a:noFill/>
          <a:ln w="38100">
            <a:solidFill>
              <a:srgbClr val="1D7C80">
                <a:alpha val="95000"/>
              </a:srgbClr>
            </a:solidFill>
            <a:prstDash val="solid"/>
          </a:ln>
        </p:spPr>
      </p:sp>
      <p:sp>
        <p:nvSpPr>
          <p:cNvPr id="5" name="Shape 3"/>
          <p:cNvSpPr/>
          <p:nvPr/>
        </p:nvSpPr>
        <p:spPr>
          <a:xfrm rot="2100000">
            <a:off x="9235440" y="1691640"/>
            <a:ext cx="1417320" cy="1417320"/>
          </a:xfrm>
          <a:prstGeom prst="arc">
            <a:avLst/>
          </a:prstGeom>
          <a:noFill/>
          <a:ln w="38100">
            <a:solidFill>
              <a:srgbClr val="F77764">
                <a:alpha val="90000"/>
              </a:srgbClr>
            </a:solidFill>
            <a:prstDash val="solid"/>
          </a:ln>
        </p:spPr>
      </p:sp>
      <p:sp>
        <p:nvSpPr>
          <p:cNvPr id="6" name="Shape 4"/>
          <p:cNvSpPr/>
          <p:nvPr/>
        </p:nvSpPr>
        <p:spPr>
          <a:xfrm rot="4800000">
            <a:off x="7680960" y="2971800"/>
            <a:ext cx="1097280" cy="1097280"/>
          </a:xfrm>
          <a:prstGeom prst="arc">
            <a:avLst/>
          </a:prstGeom>
          <a:noFill/>
          <a:ln w="38100">
            <a:solidFill>
              <a:srgbClr val="F5B642">
                <a:alpha val="95000"/>
              </a:srgbClr>
            </a:solidFill>
            <a:prstDash val="solid"/>
          </a:ln>
        </p:spPr>
      </p:sp>
      <p:sp>
        <p:nvSpPr>
          <p:cNvPr id="7" name="Text 5"/>
          <p:cNvSpPr/>
          <p:nvPr/>
        </p:nvSpPr>
        <p:spPr>
          <a:xfrm>
            <a:off x="777240" y="1143000"/>
            <a:ext cx="6035040" cy="1325880"/>
          </a:xfrm>
          <a:prstGeom prst="rect">
            <a:avLst/>
          </a:prstGeom>
          <a:noFill/>
        </p:spPr>
        <p:txBody>
          <a:bodyPr wrap="square" lIns="0" tIns="0" rIns="0" bIns="0" rtlCol="0" anchor="ctr"/>
          <a:lstStyle/>
          <a:p>
            <a:pPr marL="0" indent="0">
              <a:buNone/>
            </a:pPr>
            <a:r>
              <a:rPr lang="en-US" sz="4200" b="1" dirty="0">
                <a:solidFill>
                  <a:srgbClr val="14365D"/>
                </a:solidFill>
                <a:latin typeface="Aptos Display" pitchFamily="34" charset="0"/>
                <a:ea typeface="Aptos Display" pitchFamily="34" charset="-122"/>
                <a:cs typeface="Aptos Display" pitchFamily="34" charset="-120"/>
              </a:rPr>
              <a:t>RFM Customer</a:t>
            </a:r>
            <a:endParaRPr lang="en-US" sz="4200" dirty="0"/>
          </a:p>
          <a:p>
            <a:pPr marL="0" indent="0">
              <a:buNone/>
            </a:pPr>
            <a:r>
              <a:rPr lang="en-US" sz="4200" b="1" dirty="0">
                <a:solidFill>
                  <a:srgbClr val="14365D"/>
                </a:solidFill>
                <a:latin typeface="Aptos Display" pitchFamily="34" charset="0"/>
                <a:ea typeface="Aptos Display" pitchFamily="34" charset="-122"/>
                <a:cs typeface="Aptos Display" pitchFamily="34" charset="-120"/>
              </a:rPr>
              <a:t>Segmentation</a:t>
            </a:r>
            <a:endParaRPr lang="en-US" sz="4200" dirty="0"/>
          </a:p>
        </p:txBody>
      </p:sp>
      <p:sp>
        <p:nvSpPr>
          <p:cNvPr id="8" name="Text 6"/>
          <p:cNvSpPr/>
          <p:nvPr/>
        </p:nvSpPr>
        <p:spPr>
          <a:xfrm>
            <a:off x="822960" y="2697480"/>
            <a:ext cx="5394960" cy="420624"/>
          </a:xfrm>
          <a:prstGeom prst="rect">
            <a:avLst/>
          </a:prstGeom>
          <a:noFill/>
        </p:spPr>
        <p:txBody>
          <a:bodyPr wrap="square" lIns="0" tIns="0" rIns="0" bIns="0" rtlCol="0" anchor="ctr"/>
          <a:lstStyle/>
          <a:p>
            <a:pPr marL="0" indent="0">
              <a:buNone/>
            </a:pPr>
            <a:r>
              <a:rPr lang="en-US" sz="2200" b="1" dirty="0">
                <a:solidFill>
                  <a:srgbClr val="1D7C80"/>
                </a:solidFill>
              </a:rPr>
              <a:t>using K-Means Clustering</a:t>
            </a:r>
            <a:endParaRPr lang="en-US" sz="2200" dirty="0"/>
          </a:p>
        </p:txBody>
      </p:sp>
      <p:sp>
        <p:nvSpPr>
          <p:cNvPr id="9" name="Shape 7"/>
          <p:cNvSpPr/>
          <p:nvPr/>
        </p:nvSpPr>
        <p:spPr>
          <a:xfrm>
            <a:off x="822960" y="3337560"/>
            <a:ext cx="4937760" cy="0"/>
          </a:xfrm>
          <a:prstGeom prst="line">
            <a:avLst/>
          </a:prstGeom>
          <a:noFill/>
          <a:ln w="27940">
            <a:solidFill>
              <a:srgbClr val="F77764"/>
            </a:solidFill>
            <a:prstDash val="solid"/>
          </a:ln>
        </p:spPr>
      </p:sp>
      <p:sp>
        <p:nvSpPr>
          <p:cNvPr id="10" name="Text 8"/>
          <p:cNvSpPr/>
          <p:nvPr/>
        </p:nvSpPr>
        <p:spPr>
          <a:xfrm>
            <a:off x="822960" y="3703320"/>
            <a:ext cx="6126480" cy="320040"/>
          </a:xfrm>
          <a:prstGeom prst="rect">
            <a:avLst/>
          </a:prstGeom>
          <a:noFill/>
        </p:spPr>
        <p:txBody>
          <a:bodyPr wrap="square" lIns="0" tIns="0" rIns="0" bIns="0" rtlCol="0" anchor="ctr"/>
          <a:lstStyle/>
          <a:p>
            <a:pPr marL="0" indent="0">
              <a:buNone/>
            </a:pPr>
            <a:r>
              <a:rPr lang="en-US" sz="1450" dirty="0">
                <a:solidFill>
                  <a:srgbClr val="4B5563"/>
                </a:solidFill>
              </a:rPr>
              <a:t>Advanced Research Methodologies · MSc Data Science</a:t>
            </a:r>
            <a:endParaRPr lang="en-US" sz="1450" dirty="0"/>
          </a:p>
        </p:txBody>
      </p:sp>
      <p:sp>
        <p:nvSpPr>
          <p:cNvPr id="11" name="Text 9"/>
          <p:cNvSpPr/>
          <p:nvPr/>
        </p:nvSpPr>
        <p:spPr>
          <a:xfrm>
            <a:off x="822960" y="4096385"/>
            <a:ext cx="3200400" cy="761365"/>
          </a:xfrm>
          <a:prstGeom prst="rect">
            <a:avLst/>
          </a:prstGeom>
          <a:noFill/>
        </p:spPr>
        <p:txBody>
          <a:bodyPr wrap="square" lIns="0" tIns="0" rIns="0" bIns="0" rtlCol="0" anchor="ctr"/>
          <a:lstStyle/>
          <a:p>
            <a:pPr marL="0" indent="0">
              <a:buNone/>
            </a:pPr>
            <a:r>
              <a:rPr lang="en-US" sz="1300" b="1" dirty="0">
                <a:solidFill>
                  <a:srgbClr val="111827"/>
                </a:solidFill>
              </a:rPr>
              <a:t>Team Members : Aswathy Kariyeri</a:t>
            </a:r>
            <a:endParaRPr lang="en-US" sz="1300" b="1" dirty="0">
              <a:solidFill>
                <a:srgbClr val="111827"/>
              </a:solidFill>
            </a:endParaRPr>
          </a:p>
          <a:p>
            <a:pPr marL="0" indent="0">
              <a:buNone/>
            </a:pPr>
            <a:r>
              <a:rPr lang="en-US" sz="1300" dirty="0"/>
              <a:t>                              </a:t>
            </a:r>
            <a:r>
              <a:rPr lang="en-US" sz="1300" b="1" dirty="0"/>
              <a:t>Adarsh Verma</a:t>
            </a:r>
            <a:endParaRPr lang="en-US" sz="1300" dirty="0"/>
          </a:p>
          <a:p>
            <a:pPr marL="0" indent="0">
              <a:buNone/>
            </a:pPr>
            <a:r>
              <a:rPr lang="en-US" sz="1300" dirty="0"/>
              <a:t>                              </a:t>
            </a:r>
            <a:r>
              <a:rPr lang="en-US" sz="1300" b="1" dirty="0"/>
              <a:t>Dheeraj K B</a:t>
            </a:r>
            <a:endParaRPr lang="en-US" sz="1300" dirty="0"/>
          </a:p>
          <a:p>
            <a:pPr marL="0" indent="0">
              <a:buNone/>
            </a:pPr>
            <a:r>
              <a:rPr lang="en-US" sz="1300" dirty="0"/>
              <a:t>                              </a:t>
            </a:r>
            <a:r>
              <a:rPr lang="en-US" sz="1300" b="1" dirty="0"/>
              <a:t>Naveen K P</a:t>
            </a:r>
            <a:endParaRPr lang="en-US" sz="1300" b="1" dirty="0"/>
          </a:p>
        </p:txBody>
      </p:sp>
      <p:sp>
        <p:nvSpPr>
          <p:cNvPr id="13" name="Text 11"/>
          <p:cNvSpPr/>
          <p:nvPr/>
        </p:nvSpPr>
        <p:spPr>
          <a:xfrm>
            <a:off x="566928" y="6473952"/>
            <a:ext cx="5669280" cy="201168"/>
          </a:xfrm>
          <a:prstGeom prst="rect">
            <a:avLst/>
          </a:prstGeom>
          <a:noFill/>
        </p:spPr>
        <p:txBody>
          <a:bodyPr wrap="square" lIns="0" tIns="0" rIns="0" bIns="0" rtlCol="0" anchor="ctr"/>
          <a:lstStyle/>
          <a:p>
            <a:pPr marL="0" indent="0">
              <a:buNone/>
            </a:pPr>
            <a:r>
              <a:rPr lang="en-US" sz="850" dirty="0">
                <a:solidFill>
                  <a:srgbClr val="FFFFFF"/>
                </a:solidFill>
              </a:rPr>
              <a:t>RFM Customer Segmentation using K-Means</a:t>
            </a:r>
            <a:endParaRPr lang="en-US" sz="850" dirty="0"/>
          </a:p>
        </p:txBody>
      </p:sp>
      <p:sp>
        <p:nvSpPr>
          <p:cNvPr id="14" name="Text 12"/>
          <p:cNvSpPr/>
          <p:nvPr/>
        </p:nvSpPr>
        <p:spPr>
          <a:xfrm>
            <a:off x="11292840" y="6473952"/>
            <a:ext cx="320040" cy="201168"/>
          </a:xfrm>
          <a:prstGeom prst="rect">
            <a:avLst/>
          </a:prstGeom>
          <a:noFill/>
        </p:spPr>
        <p:txBody>
          <a:bodyPr wrap="square" lIns="0" tIns="0" rIns="0" bIns="0" rtlCol="0" anchor="ctr"/>
          <a:lstStyle/>
          <a:p>
            <a:pPr marL="0" indent="0" algn="r">
              <a:buNone/>
            </a:pPr>
            <a:r>
              <a:rPr lang="en-US" sz="850" dirty="0">
                <a:solidFill>
                  <a:srgbClr val="FFFFFF"/>
                </a:solidFill>
              </a:rPr>
              <a:t>1</a:t>
            </a:r>
            <a:endParaRPr lang="en-US" sz="850" dirty="0"/>
          </a:p>
        </p:txBody>
      </p:sp>
      <p:pic>
        <p:nvPicPr>
          <p:cNvPr id="16" name="Picture 15" descr="download"/>
          <p:cNvPicPr>
            <a:picLocks noChangeAspect="1"/>
          </p:cNvPicPr>
          <p:nvPr/>
        </p:nvPicPr>
        <p:blipFill>
          <a:blip r:embed="rId1"/>
          <a:srcRect b="10090"/>
          <a:stretch>
            <a:fillRect/>
          </a:stretch>
        </p:blipFill>
        <p:spPr>
          <a:xfrm>
            <a:off x="9225280" y="0"/>
            <a:ext cx="2966085"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6355080"/>
            <a:ext cx="12191695" cy="502920"/>
          </a:xfrm>
          <a:prstGeom prst="rect">
            <a:avLst/>
          </a:prstGeom>
          <a:solidFill>
            <a:srgbClr val="14365D"/>
          </a:solidFill>
          <a:ln w="12700">
            <a:solidFill>
              <a:srgbClr val="14365D">
                <a:alpha val="0"/>
              </a:srgbClr>
            </a:solidFill>
            <a:prstDash val="solid"/>
          </a:ln>
        </p:spPr>
      </p:sp>
      <p:sp>
        <p:nvSpPr>
          <p:cNvPr id="4" name="Text 2"/>
          <p:cNvSpPr/>
          <p:nvPr/>
        </p:nvSpPr>
        <p:spPr>
          <a:xfrm>
            <a:off x="658368" y="384048"/>
            <a:ext cx="8046720" cy="502920"/>
          </a:xfrm>
          <a:prstGeom prst="rect">
            <a:avLst/>
          </a:prstGeom>
          <a:noFill/>
        </p:spPr>
        <p:txBody>
          <a:bodyPr wrap="square" lIns="0" tIns="0" rIns="0" bIns="0" rtlCol="0" anchor="ctr"/>
          <a:lstStyle/>
          <a:p>
            <a:pPr marL="0" indent="0">
              <a:buNone/>
            </a:pPr>
            <a:r>
              <a:rPr lang="en-US" sz="2900" b="1" dirty="0">
                <a:solidFill>
                  <a:srgbClr val="14365D"/>
                </a:solidFill>
                <a:latin typeface="Aptos Display" pitchFamily="34" charset="0"/>
                <a:ea typeface="Aptos Display" pitchFamily="34" charset="-122"/>
                <a:cs typeface="Aptos Display" pitchFamily="34" charset="-120"/>
              </a:rPr>
              <a:t>Problem Statement</a:t>
            </a:r>
            <a:endParaRPr lang="en-US" sz="2900" dirty="0"/>
          </a:p>
        </p:txBody>
      </p:sp>
      <p:sp>
        <p:nvSpPr>
          <p:cNvPr id="5" name="Text 3"/>
          <p:cNvSpPr/>
          <p:nvPr/>
        </p:nvSpPr>
        <p:spPr>
          <a:xfrm>
            <a:off x="676656" y="932688"/>
            <a:ext cx="7132320" cy="292608"/>
          </a:xfrm>
          <a:prstGeom prst="rect">
            <a:avLst/>
          </a:prstGeom>
          <a:noFill/>
        </p:spPr>
        <p:txBody>
          <a:bodyPr wrap="square" lIns="0" tIns="0" rIns="0" bIns="0" rtlCol="0" anchor="ctr"/>
          <a:lstStyle/>
          <a:p>
            <a:pPr marL="0" indent="0">
              <a:buNone/>
            </a:pPr>
            <a:r>
              <a:rPr lang="en-US" sz="1250" dirty="0">
                <a:solidFill>
                  <a:srgbClr val="4B5563"/>
                </a:solidFill>
              </a:rPr>
              <a:t>Why this project matters for business decisions</a:t>
            </a:r>
            <a:endParaRPr lang="en-US" sz="1250" dirty="0"/>
          </a:p>
        </p:txBody>
      </p:sp>
      <p:sp>
        <p:nvSpPr>
          <p:cNvPr id="6" name="Text 4"/>
          <p:cNvSpPr/>
          <p:nvPr/>
        </p:nvSpPr>
        <p:spPr>
          <a:xfrm>
            <a:off x="822960" y="1600200"/>
            <a:ext cx="6126480" cy="731520"/>
          </a:xfrm>
          <a:prstGeom prst="rect">
            <a:avLst/>
          </a:prstGeom>
          <a:noFill/>
        </p:spPr>
        <p:txBody>
          <a:bodyPr wrap="square" lIns="0" tIns="0" rIns="0" bIns="0" rtlCol="0" anchor="ctr"/>
          <a:lstStyle/>
          <a:p>
            <a:pPr marL="0" indent="0">
              <a:buNone/>
            </a:pPr>
            <a:r>
              <a:rPr lang="en-US" sz="2200" b="1" dirty="0">
                <a:solidFill>
                  <a:srgbClr val="111827"/>
                </a:solidFill>
              </a:rPr>
              <a:t>Businesses often treat all customers similarly — but customers behave differently.</a:t>
            </a:r>
            <a:endParaRPr lang="en-US" sz="2200" dirty="0"/>
          </a:p>
        </p:txBody>
      </p:sp>
      <p:sp>
        <p:nvSpPr>
          <p:cNvPr id="7" name="Text 5"/>
          <p:cNvSpPr/>
          <p:nvPr/>
        </p:nvSpPr>
        <p:spPr>
          <a:xfrm>
            <a:off x="868680" y="2761488"/>
            <a:ext cx="2606040" cy="475488"/>
          </a:xfrm>
          <a:prstGeom prst="rect">
            <a:avLst/>
          </a:prstGeom>
          <a:solidFill>
            <a:srgbClr val="58A55C"/>
          </a:solidFill>
          <a:ln>
            <a:solidFill>
              <a:srgbClr val="58A55C">
                <a:alpha val="0"/>
              </a:srgbClr>
            </a:solidFill>
          </a:ln>
        </p:spPr>
        <p:txBody>
          <a:bodyPr wrap="square" lIns="635" tIns="635" rIns="635" bIns="635" rtlCol="0" anchor="ctr"/>
          <a:lstStyle/>
          <a:p>
            <a:pPr marL="0" indent="0" algn="ctr">
              <a:buNone/>
            </a:pPr>
            <a:r>
              <a:rPr lang="en-US" sz="1450" b="1" dirty="0">
                <a:solidFill>
                  <a:srgbClr val="FFFFFF"/>
                </a:solidFill>
              </a:rPr>
              <a:t>Loyal &amp; high-value</a:t>
            </a:r>
            <a:endParaRPr lang="en-US" sz="1450" dirty="0"/>
          </a:p>
        </p:txBody>
      </p:sp>
      <p:sp>
        <p:nvSpPr>
          <p:cNvPr id="8" name="Text 6"/>
          <p:cNvSpPr/>
          <p:nvPr/>
        </p:nvSpPr>
        <p:spPr>
          <a:xfrm>
            <a:off x="3931920" y="2761488"/>
            <a:ext cx="2606040" cy="475488"/>
          </a:xfrm>
          <a:prstGeom prst="rect">
            <a:avLst/>
          </a:prstGeom>
          <a:solidFill>
            <a:srgbClr val="1D7C80"/>
          </a:solidFill>
          <a:ln>
            <a:solidFill>
              <a:srgbClr val="1D7C80">
                <a:alpha val="0"/>
              </a:srgbClr>
            </a:solidFill>
          </a:ln>
        </p:spPr>
        <p:txBody>
          <a:bodyPr wrap="square" lIns="635" tIns="635" rIns="635" bIns="635" rtlCol="0" anchor="ctr"/>
          <a:lstStyle/>
          <a:p>
            <a:pPr marL="0" indent="0" algn="ctr">
              <a:buNone/>
            </a:pPr>
            <a:r>
              <a:rPr lang="en-US" sz="1450" b="1" dirty="0">
                <a:solidFill>
                  <a:srgbClr val="FFFFFF"/>
                </a:solidFill>
              </a:rPr>
              <a:t>Recent new buyers</a:t>
            </a:r>
            <a:endParaRPr lang="en-US" sz="1450" dirty="0"/>
          </a:p>
        </p:txBody>
      </p:sp>
      <p:sp>
        <p:nvSpPr>
          <p:cNvPr id="9" name="Text 7"/>
          <p:cNvSpPr/>
          <p:nvPr/>
        </p:nvSpPr>
        <p:spPr>
          <a:xfrm>
            <a:off x="868680" y="3630168"/>
            <a:ext cx="2606040" cy="475488"/>
          </a:xfrm>
          <a:prstGeom prst="rect">
            <a:avLst/>
          </a:prstGeom>
          <a:solidFill>
            <a:srgbClr val="F5B642"/>
          </a:solidFill>
          <a:ln>
            <a:solidFill>
              <a:srgbClr val="F5B642">
                <a:alpha val="0"/>
              </a:srgbClr>
            </a:solidFill>
          </a:ln>
        </p:spPr>
        <p:txBody>
          <a:bodyPr wrap="square" lIns="635" tIns="635" rIns="635" bIns="635" rtlCol="0" anchor="ctr"/>
          <a:lstStyle/>
          <a:p>
            <a:pPr marL="0" indent="0" algn="ctr">
              <a:buNone/>
            </a:pPr>
            <a:r>
              <a:rPr lang="en-US" sz="1450" b="1" dirty="0">
                <a:solidFill>
                  <a:srgbClr val="FFFFFF"/>
                </a:solidFill>
              </a:rPr>
              <a:t>Rare purchasers</a:t>
            </a:r>
            <a:endParaRPr lang="en-US" sz="1450" dirty="0"/>
          </a:p>
        </p:txBody>
      </p:sp>
      <p:sp>
        <p:nvSpPr>
          <p:cNvPr id="10" name="Text 8"/>
          <p:cNvSpPr/>
          <p:nvPr/>
        </p:nvSpPr>
        <p:spPr>
          <a:xfrm>
            <a:off x="3931920" y="3630168"/>
            <a:ext cx="2606040" cy="475488"/>
          </a:xfrm>
          <a:prstGeom prst="rect">
            <a:avLst/>
          </a:prstGeom>
          <a:solidFill>
            <a:srgbClr val="F77764"/>
          </a:solidFill>
          <a:ln>
            <a:solidFill>
              <a:srgbClr val="F77764">
                <a:alpha val="0"/>
              </a:srgbClr>
            </a:solidFill>
          </a:ln>
        </p:spPr>
        <p:txBody>
          <a:bodyPr wrap="square" lIns="635" tIns="635" rIns="635" bIns="635" rtlCol="0" anchor="ctr"/>
          <a:lstStyle/>
          <a:p>
            <a:pPr marL="0" indent="0" algn="ctr">
              <a:buNone/>
            </a:pPr>
            <a:r>
              <a:rPr lang="en-US" sz="1450" b="1" dirty="0">
                <a:solidFill>
                  <a:srgbClr val="FFFFFF"/>
                </a:solidFill>
              </a:rPr>
              <a:t>Inactive / at risk</a:t>
            </a:r>
            <a:endParaRPr lang="en-US" sz="1450" dirty="0"/>
          </a:p>
        </p:txBody>
      </p:sp>
      <p:sp>
        <p:nvSpPr>
          <p:cNvPr id="11" name="Shape 9"/>
          <p:cNvSpPr/>
          <p:nvPr/>
        </p:nvSpPr>
        <p:spPr>
          <a:xfrm>
            <a:off x="6903720" y="2971800"/>
            <a:ext cx="658368" cy="640080"/>
          </a:xfrm>
          <a:prstGeom prst="chevron">
            <a:avLst/>
          </a:prstGeom>
          <a:solidFill>
            <a:srgbClr val="14365D"/>
          </a:solidFill>
          <a:ln w="12700">
            <a:solidFill>
              <a:srgbClr val="14365D">
                <a:alpha val="0"/>
              </a:srgbClr>
            </a:solidFill>
            <a:prstDash val="solid"/>
          </a:ln>
        </p:spPr>
      </p:sp>
      <p:sp>
        <p:nvSpPr>
          <p:cNvPr id="12" name="Text 10"/>
          <p:cNvSpPr/>
          <p:nvPr/>
        </p:nvSpPr>
        <p:spPr>
          <a:xfrm>
            <a:off x="7818120" y="2423160"/>
            <a:ext cx="3154680" cy="1417320"/>
          </a:xfrm>
          <a:prstGeom prst="rect">
            <a:avLst/>
          </a:prstGeom>
          <a:solidFill>
            <a:srgbClr val="FFFFFF"/>
          </a:solidFill>
          <a:ln w="15240">
            <a:solidFill>
              <a:srgbClr val="D9E2EC"/>
            </a:solidFill>
          </a:ln>
        </p:spPr>
        <p:txBody>
          <a:bodyPr wrap="square" lIns="1270" tIns="1270" rIns="1270" bIns="1270" rtlCol="0" anchor="ctr"/>
          <a:lstStyle/>
          <a:p>
            <a:pPr marL="0" indent="0" algn="ctr">
              <a:buNone/>
            </a:pPr>
            <a:r>
              <a:rPr lang="en-US" sz="2200" b="1" dirty="0">
                <a:solidFill>
                  <a:srgbClr val="14365D"/>
                </a:solidFill>
              </a:rPr>
              <a:t>Need a data-driven way to group customers and target them better</a:t>
            </a:r>
            <a:endParaRPr lang="en-US" sz="2200" dirty="0"/>
          </a:p>
        </p:txBody>
      </p:sp>
      <p:sp>
        <p:nvSpPr>
          <p:cNvPr id="13" name="Text 11"/>
          <p:cNvSpPr/>
          <p:nvPr/>
        </p:nvSpPr>
        <p:spPr>
          <a:xfrm>
            <a:off x="868680" y="5166360"/>
            <a:ext cx="9875520" cy="320040"/>
          </a:xfrm>
          <a:prstGeom prst="rect">
            <a:avLst/>
          </a:prstGeom>
          <a:noFill/>
        </p:spPr>
        <p:txBody>
          <a:bodyPr wrap="square" lIns="0" tIns="0" rIns="0" bIns="0" rtlCol="0" anchor="ctr"/>
          <a:lstStyle/>
          <a:p>
            <a:pPr marL="0" indent="0">
              <a:buNone/>
            </a:pPr>
            <a:r>
              <a:rPr lang="en-US" sz="1350" dirty="0">
                <a:solidFill>
                  <a:srgbClr val="4B5563"/>
                </a:solidFill>
              </a:rPr>
              <a:t>Core issue: without segmentation, marketing budget and retention effort may be wasted.</a:t>
            </a:r>
            <a:endParaRPr lang="en-US" sz="1350" dirty="0"/>
          </a:p>
        </p:txBody>
      </p:sp>
      <p:sp>
        <p:nvSpPr>
          <p:cNvPr id="14" name="Text 12"/>
          <p:cNvSpPr/>
          <p:nvPr/>
        </p:nvSpPr>
        <p:spPr>
          <a:xfrm>
            <a:off x="566928" y="6473952"/>
            <a:ext cx="5669280" cy="201168"/>
          </a:xfrm>
          <a:prstGeom prst="rect">
            <a:avLst/>
          </a:prstGeom>
          <a:noFill/>
        </p:spPr>
        <p:txBody>
          <a:bodyPr wrap="square" lIns="0" tIns="0" rIns="0" bIns="0" rtlCol="0" anchor="ctr"/>
          <a:lstStyle/>
          <a:p>
            <a:pPr marL="0" indent="0">
              <a:buNone/>
            </a:pPr>
            <a:r>
              <a:rPr lang="en-US" sz="850" dirty="0">
                <a:solidFill>
                  <a:srgbClr val="FFFFFF"/>
                </a:solidFill>
              </a:rPr>
              <a:t>RFM Customer Segmentation using K-Means</a:t>
            </a:r>
            <a:endParaRPr lang="en-US" sz="850" dirty="0"/>
          </a:p>
        </p:txBody>
      </p:sp>
      <p:sp>
        <p:nvSpPr>
          <p:cNvPr id="15" name="Text 13"/>
          <p:cNvSpPr/>
          <p:nvPr/>
        </p:nvSpPr>
        <p:spPr>
          <a:xfrm>
            <a:off x="11292840" y="6473952"/>
            <a:ext cx="320040" cy="201168"/>
          </a:xfrm>
          <a:prstGeom prst="rect">
            <a:avLst/>
          </a:prstGeom>
          <a:noFill/>
        </p:spPr>
        <p:txBody>
          <a:bodyPr wrap="square" lIns="0" tIns="0" rIns="0" bIns="0" rtlCol="0" anchor="ctr"/>
          <a:lstStyle/>
          <a:p>
            <a:pPr marL="0" indent="0" algn="r">
              <a:buNone/>
            </a:pPr>
            <a:r>
              <a:rPr lang="en-US" sz="850" dirty="0">
                <a:solidFill>
                  <a:srgbClr val="FFFFFF"/>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6355080"/>
            <a:ext cx="12191695" cy="502920"/>
          </a:xfrm>
          <a:prstGeom prst="rect">
            <a:avLst/>
          </a:prstGeom>
          <a:solidFill>
            <a:srgbClr val="14365D"/>
          </a:solidFill>
          <a:ln w="12700">
            <a:solidFill>
              <a:srgbClr val="14365D">
                <a:alpha val="0"/>
              </a:srgbClr>
            </a:solidFill>
            <a:prstDash val="solid"/>
          </a:ln>
        </p:spPr>
      </p:sp>
      <p:sp>
        <p:nvSpPr>
          <p:cNvPr id="4" name="Text 2"/>
          <p:cNvSpPr/>
          <p:nvPr/>
        </p:nvSpPr>
        <p:spPr>
          <a:xfrm>
            <a:off x="658368" y="384048"/>
            <a:ext cx="8046720" cy="502920"/>
          </a:xfrm>
          <a:prstGeom prst="rect">
            <a:avLst/>
          </a:prstGeom>
          <a:noFill/>
        </p:spPr>
        <p:txBody>
          <a:bodyPr wrap="square" lIns="0" tIns="0" rIns="0" bIns="0" rtlCol="0" anchor="ctr"/>
          <a:lstStyle/>
          <a:p>
            <a:pPr marL="0" indent="0">
              <a:buNone/>
            </a:pPr>
            <a:r>
              <a:rPr lang="en-US" sz="2900" b="1" dirty="0">
                <a:solidFill>
                  <a:srgbClr val="14365D"/>
                </a:solidFill>
                <a:latin typeface="Aptos Display" pitchFamily="34" charset="0"/>
                <a:ea typeface="Aptos Display" pitchFamily="34" charset="-122"/>
                <a:cs typeface="Aptos Display" pitchFamily="34" charset="-120"/>
              </a:rPr>
              <a:t>Project Objectives</a:t>
            </a:r>
            <a:endParaRPr lang="en-US" sz="2900" dirty="0"/>
          </a:p>
        </p:txBody>
      </p:sp>
      <p:sp>
        <p:nvSpPr>
          <p:cNvPr id="5" name="Text 3"/>
          <p:cNvSpPr/>
          <p:nvPr/>
        </p:nvSpPr>
        <p:spPr>
          <a:xfrm>
            <a:off x="676656" y="932688"/>
            <a:ext cx="7132320" cy="292608"/>
          </a:xfrm>
          <a:prstGeom prst="rect">
            <a:avLst/>
          </a:prstGeom>
          <a:noFill/>
        </p:spPr>
        <p:txBody>
          <a:bodyPr wrap="square" lIns="0" tIns="0" rIns="0" bIns="0" rtlCol="0" anchor="ctr"/>
          <a:lstStyle/>
          <a:p>
            <a:pPr marL="0" indent="0">
              <a:buNone/>
            </a:pPr>
            <a:r>
              <a:rPr lang="en-US" sz="1250" dirty="0">
                <a:solidFill>
                  <a:srgbClr val="4B5563"/>
                </a:solidFill>
              </a:rPr>
              <a:t>What this study aims to achieve</a:t>
            </a:r>
            <a:endParaRPr lang="en-US" sz="1250" dirty="0"/>
          </a:p>
        </p:txBody>
      </p:sp>
      <p:sp>
        <p:nvSpPr>
          <p:cNvPr id="6" name="Text 4"/>
          <p:cNvSpPr/>
          <p:nvPr/>
        </p:nvSpPr>
        <p:spPr>
          <a:xfrm>
            <a:off x="914400" y="1828800"/>
            <a:ext cx="530352" cy="530352"/>
          </a:xfrm>
          <a:prstGeom prst="rect">
            <a:avLst/>
          </a:prstGeom>
          <a:solidFill>
            <a:srgbClr val="1D7C80"/>
          </a:solidFill>
          <a:ln>
            <a:solidFill>
              <a:srgbClr val="1D7C80">
                <a:alpha val="0"/>
              </a:srgbClr>
            </a:solid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7" name="Text 5"/>
          <p:cNvSpPr/>
          <p:nvPr/>
        </p:nvSpPr>
        <p:spPr>
          <a:xfrm>
            <a:off x="841248" y="2606040"/>
            <a:ext cx="1463040" cy="320040"/>
          </a:xfrm>
          <a:prstGeom prst="rect">
            <a:avLst/>
          </a:prstGeom>
          <a:noFill/>
        </p:spPr>
        <p:txBody>
          <a:bodyPr wrap="square" lIns="0" tIns="0" rIns="0" bIns="0" rtlCol="0" anchor="ctr"/>
          <a:lstStyle/>
          <a:p>
            <a:pPr marL="0" indent="0" algn="ctr">
              <a:buNone/>
            </a:pPr>
            <a:r>
              <a:rPr lang="en-US" sz="1800" b="1" dirty="0">
                <a:solidFill>
                  <a:srgbClr val="14365D"/>
                </a:solidFill>
              </a:rPr>
              <a:t>Analyze</a:t>
            </a:r>
            <a:endParaRPr lang="en-US" sz="1800" dirty="0"/>
          </a:p>
        </p:txBody>
      </p:sp>
      <p:sp>
        <p:nvSpPr>
          <p:cNvPr id="8" name="Text 6"/>
          <p:cNvSpPr/>
          <p:nvPr/>
        </p:nvSpPr>
        <p:spPr>
          <a:xfrm>
            <a:off x="457200" y="2999232"/>
            <a:ext cx="2148840" cy="777240"/>
          </a:xfrm>
          <a:prstGeom prst="rect">
            <a:avLst/>
          </a:prstGeom>
          <a:noFill/>
        </p:spPr>
        <p:txBody>
          <a:bodyPr wrap="square" lIns="635" tIns="635" rIns="635" bIns="635" rtlCol="0" anchor="ctr"/>
          <a:lstStyle/>
          <a:p>
            <a:pPr marL="0" indent="0" algn="ctr">
              <a:buNone/>
            </a:pPr>
            <a:r>
              <a:rPr lang="en-US" sz="1420" dirty="0">
                <a:solidFill>
                  <a:srgbClr val="4B5563"/>
                </a:solidFill>
              </a:rPr>
              <a:t>customer transaction behavior</a:t>
            </a:r>
            <a:endParaRPr lang="en-US" sz="1420" dirty="0"/>
          </a:p>
        </p:txBody>
      </p:sp>
      <p:sp>
        <p:nvSpPr>
          <p:cNvPr id="9" name="Shape 7"/>
          <p:cNvSpPr/>
          <p:nvPr/>
        </p:nvSpPr>
        <p:spPr>
          <a:xfrm>
            <a:off x="1828800" y="2093976"/>
            <a:ext cx="1234440" cy="0"/>
          </a:xfrm>
          <a:prstGeom prst="line">
            <a:avLst/>
          </a:prstGeom>
          <a:noFill/>
          <a:ln w="25400">
            <a:solidFill>
              <a:srgbClr val="D9E2EC"/>
            </a:solidFill>
            <a:prstDash val="solid"/>
            <a:headEnd type="none"/>
            <a:tailEnd type="triangle"/>
          </a:ln>
        </p:spPr>
      </p:sp>
      <p:sp>
        <p:nvSpPr>
          <p:cNvPr id="10" name="Text 8"/>
          <p:cNvSpPr/>
          <p:nvPr/>
        </p:nvSpPr>
        <p:spPr>
          <a:xfrm>
            <a:off x="3657600" y="1828800"/>
            <a:ext cx="530352" cy="530352"/>
          </a:xfrm>
          <a:prstGeom prst="rect">
            <a:avLst/>
          </a:prstGeom>
          <a:solidFill>
            <a:srgbClr val="F5B642"/>
          </a:solidFill>
          <a:ln>
            <a:solidFill>
              <a:srgbClr val="F5B642">
                <a:alpha val="0"/>
              </a:srgbClr>
            </a:solid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1" name="Text 9"/>
          <p:cNvSpPr/>
          <p:nvPr/>
        </p:nvSpPr>
        <p:spPr>
          <a:xfrm>
            <a:off x="3584448" y="2606040"/>
            <a:ext cx="1463040" cy="320040"/>
          </a:xfrm>
          <a:prstGeom prst="rect">
            <a:avLst/>
          </a:prstGeom>
          <a:noFill/>
        </p:spPr>
        <p:txBody>
          <a:bodyPr wrap="square" lIns="0" tIns="0" rIns="0" bIns="0" rtlCol="0" anchor="ctr"/>
          <a:lstStyle/>
          <a:p>
            <a:pPr marL="0" indent="0" algn="ctr">
              <a:buNone/>
            </a:pPr>
            <a:r>
              <a:rPr lang="en-US" sz="1800" b="1" dirty="0">
                <a:solidFill>
                  <a:srgbClr val="14365D"/>
                </a:solidFill>
              </a:rPr>
              <a:t>Create</a:t>
            </a:r>
            <a:endParaRPr lang="en-US" sz="1800" dirty="0"/>
          </a:p>
        </p:txBody>
      </p:sp>
      <p:sp>
        <p:nvSpPr>
          <p:cNvPr id="12" name="Text 10"/>
          <p:cNvSpPr/>
          <p:nvPr/>
        </p:nvSpPr>
        <p:spPr>
          <a:xfrm>
            <a:off x="3200400" y="2999232"/>
            <a:ext cx="2148840" cy="777240"/>
          </a:xfrm>
          <a:prstGeom prst="rect">
            <a:avLst/>
          </a:prstGeom>
          <a:noFill/>
        </p:spPr>
        <p:txBody>
          <a:bodyPr wrap="square" lIns="635" tIns="635" rIns="635" bIns="635" rtlCol="0" anchor="ctr"/>
          <a:lstStyle/>
          <a:p>
            <a:pPr marL="0" indent="0" algn="ctr">
              <a:buNone/>
            </a:pPr>
            <a:r>
              <a:rPr lang="en-US" sz="1420" dirty="0">
                <a:solidFill>
                  <a:srgbClr val="4B5563"/>
                </a:solidFill>
              </a:rPr>
              <a:t>RFM metrics and customer-level table</a:t>
            </a:r>
            <a:endParaRPr lang="en-US" sz="1420" dirty="0"/>
          </a:p>
        </p:txBody>
      </p:sp>
      <p:sp>
        <p:nvSpPr>
          <p:cNvPr id="13" name="Shape 11"/>
          <p:cNvSpPr/>
          <p:nvPr/>
        </p:nvSpPr>
        <p:spPr>
          <a:xfrm>
            <a:off x="4572000" y="2093976"/>
            <a:ext cx="1234440" cy="0"/>
          </a:xfrm>
          <a:prstGeom prst="line">
            <a:avLst/>
          </a:prstGeom>
          <a:noFill/>
          <a:ln w="25400">
            <a:solidFill>
              <a:srgbClr val="D9E2EC"/>
            </a:solidFill>
            <a:prstDash val="solid"/>
            <a:headEnd type="none"/>
            <a:tailEnd type="triangle"/>
          </a:ln>
        </p:spPr>
      </p:sp>
      <p:sp>
        <p:nvSpPr>
          <p:cNvPr id="14" name="Text 12"/>
          <p:cNvSpPr/>
          <p:nvPr/>
        </p:nvSpPr>
        <p:spPr>
          <a:xfrm>
            <a:off x="6400800" y="1828800"/>
            <a:ext cx="530352" cy="530352"/>
          </a:xfrm>
          <a:prstGeom prst="rect">
            <a:avLst/>
          </a:prstGeom>
          <a:solidFill>
            <a:srgbClr val="F77764"/>
          </a:solidFill>
          <a:ln>
            <a:solidFill>
              <a:srgbClr val="F77764">
                <a:alpha val="0"/>
              </a:srgbClr>
            </a:solid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5" name="Text 13"/>
          <p:cNvSpPr/>
          <p:nvPr/>
        </p:nvSpPr>
        <p:spPr>
          <a:xfrm>
            <a:off x="6327648" y="2606040"/>
            <a:ext cx="1463040" cy="320040"/>
          </a:xfrm>
          <a:prstGeom prst="rect">
            <a:avLst/>
          </a:prstGeom>
          <a:noFill/>
        </p:spPr>
        <p:txBody>
          <a:bodyPr wrap="square" lIns="0" tIns="0" rIns="0" bIns="0" rtlCol="0" anchor="ctr"/>
          <a:lstStyle/>
          <a:p>
            <a:pPr marL="0" indent="0" algn="ctr">
              <a:buNone/>
            </a:pPr>
            <a:r>
              <a:rPr lang="en-US" sz="1800" b="1" dirty="0">
                <a:solidFill>
                  <a:srgbClr val="14365D"/>
                </a:solidFill>
              </a:rPr>
              <a:t>Apply</a:t>
            </a:r>
            <a:endParaRPr lang="en-US" sz="1800" dirty="0"/>
          </a:p>
        </p:txBody>
      </p:sp>
      <p:sp>
        <p:nvSpPr>
          <p:cNvPr id="16" name="Text 14"/>
          <p:cNvSpPr/>
          <p:nvPr/>
        </p:nvSpPr>
        <p:spPr>
          <a:xfrm>
            <a:off x="5943600" y="2999232"/>
            <a:ext cx="2148840" cy="777240"/>
          </a:xfrm>
          <a:prstGeom prst="rect">
            <a:avLst/>
          </a:prstGeom>
          <a:noFill/>
        </p:spPr>
        <p:txBody>
          <a:bodyPr wrap="square" lIns="635" tIns="635" rIns="635" bIns="635" rtlCol="0" anchor="ctr"/>
          <a:lstStyle/>
          <a:p>
            <a:pPr marL="0" indent="0" algn="ctr">
              <a:buNone/>
            </a:pPr>
            <a:r>
              <a:rPr lang="en-US" sz="1420" dirty="0">
                <a:solidFill>
                  <a:srgbClr val="4B5563"/>
                </a:solidFill>
              </a:rPr>
              <a:t>K-Means clustering</a:t>
            </a:r>
            <a:endParaRPr lang="en-US" sz="1420" dirty="0"/>
          </a:p>
        </p:txBody>
      </p:sp>
      <p:sp>
        <p:nvSpPr>
          <p:cNvPr id="17" name="Shape 15"/>
          <p:cNvSpPr/>
          <p:nvPr/>
        </p:nvSpPr>
        <p:spPr>
          <a:xfrm>
            <a:off x="7315200" y="2093976"/>
            <a:ext cx="1234440" cy="0"/>
          </a:xfrm>
          <a:prstGeom prst="line">
            <a:avLst/>
          </a:prstGeom>
          <a:noFill/>
          <a:ln w="25400">
            <a:solidFill>
              <a:srgbClr val="D9E2EC"/>
            </a:solidFill>
            <a:prstDash val="solid"/>
            <a:headEnd type="none"/>
            <a:tailEnd type="triangle"/>
          </a:ln>
        </p:spPr>
      </p:sp>
      <p:sp>
        <p:nvSpPr>
          <p:cNvPr id="18" name="Text 16"/>
          <p:cNvSpPr/>
          <p:nvPr/>
        </p:nvSpPr>
        <p:spPr>
          <a:xfrm>
            <a:off x="9144000" y="1828800"/>
            <a:ext cx="530352" cy="530352"/>
          </a:xfrm>
          <a:prstGeom prst="rect">
            <a:avLst/>
          </a:prstGeom>
          <a:solidFill>
            <a:srgbClr val="58A55C"/>
          </a:solidFill>
          <a:ln>
            <a:solidFill>
              <a:srgbClr val="58A55C">
                <a:alpha val="0"/>
              </a:srgbClr>
            </a:solidFill>
          </a:ln>
        </p:spPr>
        <p:txBody>
          <a:bodyPr wrap="square" lIns="0" tIns="0" rIns="0" bIns="0" rtlCol="0" anchor="ctr"/>
          <a:lstStyle/>
          <a:p>
            <a:pPr marL="0" indent="0" algn="ctr">
              <a:buNone/>
            </a:pPr>
            <a:r>
              <a:rPr lang="en-US" sz="2000" b="1" dirty="0">
                <a:solidFill>
                  <a:srgbClr val="FFFFFF"/>
                </a:solidFill>
              </a:rPr>
              <a:t>4</a:t>
            </a:r>
            <a:endParaRPr lang="en-US" sz="2000" dirty="0"/>
          </a:p>
        </p:txBody>
      </p:sp>
      <p:sp>
        <p:nvSpPr>
          <p:cNvPr id="19" name="Text 17"/>
          <p:cNvSpPr/>
          <p:nvPr/>
        </p:nvSpPr>
        <p:spPr>
          <a:xfrm>
            <a:off x="9070848" y="2606040"/>
            <a:ext cx="1463040" cy="320040"/>
          </a:xfrm>
          <a:prstGeom prst="rect">
            <a:avLst/>
          </a:prstGeom>
          <a:noFill/>
        </p:spPr>
        <p:txBody>
          <a:bodyPr wrap="square" lIns="0" tIns="0" rIns="0" bIns="0" rtlCol="0" anchor="ctr"/>
          <a:lstStyle/>
          <a:p>
            <a:pPr marL="0" indent="0" algn="ctr">
              <a:buNone/>
            </a:pPr>
            <a:r>
              <a:rPr lang="en-US" sz="1800" b="1" dirty="0">
                <a:solidFill>
                  <a:srgbClr val="14365D"/>
                </a:solidFill>
              </a:rPr>
              <a:t>Interpret</a:t>
            </a:r>
            <a:endParaRPr lang="en-US" sz="1800" dirty="0"/>
          </a:p>
        </p:txBody>
      </p:sp>
      <p:sp>
        <p:nvSpPr>
          <p:cNvPr id="20" name="Text 18"/>
          <p:cNvSpPr/>
          <p:nvPr/>
        </p:nvSpPr>
        <p:spPr>
          <a:xfrm>
            <a:off x="8686800" y="2999232"/>
            <a:ext cx="2148840" cy="777240"/>
          </a:xfrm>
          <a:prstGeom prst="rect">
            <a:avLst/>
          </a:prstGeom>
          <a:noFill/>
        </p:spPr>
        <p:txBody>
          <a:bodyPr wrap="square" lIns="635" tIns="635" rIns="635" bIns="635" rtlCol="0" anchor="ctr"/>
          <a:lstStyle/>
          <a:p>
            <a:pPr marL="0" indent="0" algn="ctr">
              <a:buNone/>
            </a:pPr>
            <a:r>
              <a:rPr lang="en-US" sz="1420" dirty="0">
                <a:solidFill>
                  <a:srgbClr val="4B5563"/>
                </a:solidFill>
              </a:rPr>
              <a:t>segments for business strategy</a:t>
            </a:r>
            <a:endParaRPr lang="en-US" sz="1420" dirty="0"/>
          </a:p>
        </p:txBody>
      </p:sp>
      <p:sp>
        <p:nvSpPr>
          <p:cNvPr id="21" name="Text 19"/>
          <p:cNvSpPr/>
          <p:nvPr/>
        </p:nvSpPr>
        <p:spPr>
          <a:xfrm>
            <a:off x="1874520" y="4892040"/>
            <a:ext cx="7863840" cy="438912"/>
          </a:xfrm>
          <a:prstGeom prst="rect">
            <a:avLst/>
          </a:prstGeom>
          <a:solidFill>
            <a:srgbClr val="14365D"/>
          </a:solidFill>
          <a:ln>
            <a:solidFill>
              <a:srgbClr val="14365D">
                <a:alpha val="0"/>
              </a:srgbClr>
            </a:solidFill>
          </a:ln>
        </p:spPr>
        <p:txBody>
          <a:bodyPr wrap="square" lIns="635" tIns="635" rIns="635" bIns="635" rtlCol="0" anchor="ctr"/>
          <a:lstStyle/>
          <a:p>
            <a:pPr marL="0" indent="0" algn="ctr">
              <a:buNone/>
            </a:pPr>
            <a:r>
              <a:rPr lang="en-US" sz="1700" b="1" dirty="0">
                <a:solidFill>
                  <a:srgbClr val="FFFFFF"/>
                </a:solidFill>
              </a:rPr>
              <a:t>Final goal: convert transaction data into actionable customer groups.</a:t>
            </a:r>
            <a:endParaRPr lang="en-US" sz="1700" dirty="0"/>
          </a:p>
        </p:txBody>
      </p:sp>
      <p:sp>
        <p:nvSpPr>
          <p:cNvPr id="22" name="Text 20"/>
          <p:cNvSpPr/>
          <p:nvPr/>
        </p:nvSpPr>
        <p:spPr>
          <a:xfrm>
            <a:off x="566928" y="6473952"/>
            <a:ext cx="5669280" cy="201168"/>
          </a:xfrm>
          <a:prstGeom prst="rect">
            <a:avLst/>
          </a:prstGeom>
          <a:noFill/>
        </p:spPr>
        <p:txBody>
          <a:bodyPr wrap="square" lIns="0" tIns="0" rIns="0" bIns="0" rtlCol="0" anchor="ctr"/>
          <a:lstStyle/>
          <a:p>
            <a:pPr marL="0" indent="0">
              <a:buNone/>
            </a:pPr>
            <a:r>
              <a:rPr lang="en-US" sz="850" dirty="0">
                <a:solidFill>
                  <a:srgbClr val="FFFFFF"/>
                </a:solidFill>
              </a:rPr>
              <a:t>RFM Customer Segmentation using K-Means</a:t>
            </a:r>
            <a:endParaRPr lang="en-US" sz="850" dirty="0"/>
          </a:p>
        </p:txBody>
      </p:sp>
      <p:sp>
        <p:nvSpPr>
          <p:cNvPr id="23" name="Text 21"/>
          <p:cNvSpPr/>
          <p:nvPr/>
        </p:nvSpPr>
        <p:spPr>
          <a:xfrm>
            <a:off x="11292840" y="6473952"/>
            <a:ext cx="320040" cy="201168"/>
          </a:xfrm>
          <a:prstGeom prst="rect">
            <a:avLst/>
          </a:prstGeom>
          <a:noFill/>
        </p:spPr>
        <p:txBody>
          <a:bodyPr wrap="square" lIns="0" tIns="0" rIns="0" bIns="0" rtlCol="0" anchor="ctr"/>
          <a:lstStyle/>
          <a:p>
            <a:pPr marL="0" indent="0" algn="r">
              <a:buNone/>
            </a:pPr>
            <a:r>
              <a:rPr lang="en-US" sz="850" dirty="0">
                <a:solidFill>
                  <a:srgbClr val="FFFFFF"/>
                </a:solidFill>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6355080"/>
            <a:ext cx="12191695" cy="502920"/>
          </a:xfrm>
          <a:prstGeom prst="rect">
            <a:avLst/>
          </a:prstGeom>
          <a:solidFill>
            <a:srgbClr val="14365D"/>
          </a:solidFill>
          <a:ln w="12700">
            <a:solidFill>
              <a:srgbClr val="14365D">
                <a:alpha val="0"/>
              </a:srgbClr>
            </a:solidFill>
            <a:prstDash val="solid"/>
          </a:ln>
        </p:spPr>
      </p:sp>
      <p:sp>
        <p:nvSpPr>
          <p:cNvPr id="4" name="Text 2"/>
          <p:cNvSpPr/>
          <p:nvPr/>
        </p:nvSpPr>
        <p:spPr>
          <a:xfrm>
            <a:off x="658368" y="384048"/>
            <a:ext cx="8046720" cy="502920"/>
          </a:xfrm>
          <a:prstGeom prst="rect">
            <a:avLst/>
          </a:prstGeom>
          <a:noFill/>
        </p:spPr>
        <p:txBody>
          <a:bodyPr wrap="square" lIns="0" tIns="0" rIns="0" bIns="0" rtlCol="0" anchor="ctr"/>
          <a:lstStyle/>
          <a:p>
            <a:pPr marL="0" indent="0">
              <a:buNone/>
            </a:pPr>
            <a:r>
              <a:rPr lang="en-US" sz="2900" b="1" dirty="0">
                <a:solidFill>
                  <a:srgbClr val="14365D"/>
                </a:solidFill>
                <a:latin typeface="Aptos Display" pitchFamily="34" charset="0"/>
                <a:ea typeface="Aptos Display" pitchFamily="34" charset="-122"/>
                <a:cs typeface="Aptos Display" pitchFamily="34" charset="-120"/>
              </a:rPr>
              <a:t>Dataset</a:t>
            </a:r>
            <a:endParaRPr lang="en-US" sz="2900" dirty="0"/>
          </a:p>
        </p:txBody>
      </p:sp>
      <p:sp>
        <p:nvSpPr>
          <p:cNvPr id="5" name="Text 3"/>
          <p:cNvSpPr/>
          <p:nvPr/>
        </p:nvSpPr>
        <p:spPr>
          <a:xfrm>
            <a:off x="676656" y="932688"/>
            <a:ext cx="7132320" cy="292608"/>
          </a:xfrm>
          <a:prstGeom prst="rect">
            <a:avLst/>
          </a:prstGeom>
          <a:noFill/>
        </p:spPr>
        <p:txBody>
          <a:bodyPr wrap="square" lIns="0" tIns="0" rIns="0" bIns="0" rtlCol="0" anchor="ctr"/>
          <a:lstStyle/>
          <a:p>
            <a:pPr marL="0" indent="0">
              <a:buNone/>
            </a:pPr>
            <a:r>
              <a:rPr lang="en-US" sz="1250" dirty="0">
                <a:solidFill>
                  <a:srgbClr val="4B5563"/>
                </a:solidFill>
              </a:rPr>
              <a:t>Online Retail dataset for transactional customer behavior</a:t>
            </a:r>
            <a:endParaRPr lang="en-US" sz="1250" dirty="0"/>
          </a:p>
        </p:txBody>
      </p:sp>
      <p:sp>
        <p:nvSpPr>
          <p:cNvPr id="6" name="Text 4"/>
          <p:cNvSpPr/>
          <p:nvPr/>
        </p:nvSpPr>
        <p:spPr>
          <a:xfrm>
            <a:off x="822960" y="1417320"/>
            <a:ext cx="5029200" cy="292608"/>
          </a:xfrm>
          <a:prstGeom prst="rect">
            <a:avLst/>
          </a:prstGeom>
          <a:noFill/>
        </p:spPr>
        <p:txBody>
          <a:bodyPr wrap="square" lIns="0" tIns="0" rIns="0" bIns="0" rtlCol="0" anchor="ctr"/>
          <a:lstStyle/>
          <a:p>
            <a:pPr marL="0" indent="0">
              <a:buNone/>
            </a:pPr>
            <a:r>
              <a:rPr lang="en-US" sz="1400" dirty="0">
                <a:solidFill>
                  <a:srgbClr val="4B5563"/>
                </a:solidFill>
              </a:rPr>
              <a:t>Source: UCI Machine Learning Repository / Kaggle</a:t>
            </a:r>
            <a:endParaRPr lang="en-US" sz="1400" dirty="0"/>
          </a:p>
        </p:txBody>
      </p:sp>
      <p:sp>
        <p:nvSpPr>
          <p:cNvPr id="7" name="Text 5"/>
          <p:cNvSpPr/>
          <p:nvPr/>
        </p:nvSpPr>
        <p:spPr>
          <a:xfrm>
            <a:off x="822960" y="1874520"/>
            <a:ext cx="4892040" cy="960120"/>
          </a:xfrm>
          <a:prstGeom prst="rect">
            <a:avLst/>
          </a:prstGeom>
          <a:noFill/>
        </p:spPr>
        <p:txBody>
          <a:bodyPr wrap="square" lIns="762" tIns="762" rIns="762" bIns="762" rtlCol="0" anchor="ctr"/>
          <a:lstStyle/>
          <a:p>
            <a:pPr marL="0" indent="0">
              <a:buNone/>
            </a:pPr>
            <a:r>
              <a:rPr lang="en-US" sz="1620" dirty="0">
                <a:solidFill>
                  <a:srgbClr val="111827"/>
                </a:solidFill>
              </a:rPr>
              <a:t>The UCI Online Retail dataset contains transactions from 01/12/2010 to 09/12/2011 for a UK-based online retailer; UCI lists it as a clustering-suitable business dataset with 541,909 instances.</a:t>
            </a:r>
            <a:endParaRPr lang="en-US" sz="1620" dirty="0"/>
          </a:p>
        </p:txBody>
      </p:sp>
      <p:sp>
        <p:nvSpPr>
          <p:cNvPr id="8" name="Text 6"/>
          <p:cNvSpPr/>
          <p:nvPr/>
        </p:nvSpPr>
        <p:spPr>
          <a:xfrm>
            <a:off x="6537960" y="1261872"/>
            <a:ext cx="1828800" cy="320040"/>
          </a:xfrm>
          <a:prstGeom prst="rect">
            <a:avLst/>
          </a:prstGeom>
          <a:noFill/>
        </p:spPr>
        <p:txBody>
          <a:bodyPr wrap="square" lIns="0" tIns="0" rIns="0" bIns="0" rtlCol="0" anchor="ctr"/>
          <a:lstStyle/>
          <a:p>
            <a:pPr marL="0" indent="0">
              <a:buNone/>
            </a:pPr>
            <a:r>
              <a:rPr lang="en-US" sz="1450" b="1" dirty="0">
                <a:solidFill>
                  <a:srgbClr val="14365D"/>
                </a:solidFill>
              </a:rPr>
              <a:t>CustomerID</a:t>
            </a:r>
            <a:endParaRPr lang="en-US" sz="1450" dirty="0"/>
          </a:p>
        </p:txBody>
      </p:sp>
      <p:sp>
        <p:nvSpPr>
          <p:cNvPr id="9" name="Text 7"/>
          <p:cNvSpPr/>
          <p:nvPr/>
        </p:nvSpPr>
        <p:spPr>
          <a:xfrm>
            <a:off x="8549640" y="1261872"/>
            <a:ext cx="2286000" cy="320040"/>
          </a:xfrm>
          <a:prstGeom prst="rect">
            <a:avLst/>
          </a:prstGeom>
          <a:noFill/>
        </p:spPr>
        <p:txBody>
          <a:bodyPr wrap="square" lIns="0" tIns="0" rIns="0" bIns="0" rtlCol="0" anchor="ctr"/>
          <a:lstStyle/>
          <a:p>
            <a:pPr marL="0" indent="0">
              <a:buNone/>
            </a:pPr>
            <a:r>
              <a:rPr lang="en-US" sz="1340" dirty="0">
                <a:solidFill>
                  <a:srgbClr val="4B5563"/>
                </a:solidFill>
              </a:rPr>
              <a:t>who bought</a:t>
            </a:r>
            <a:endParaRPr lang="en-US" sz="1340" dirty="0"/>
          </a:p>
        </p:txBody>
      </p:sp>
      <p:sp>
        <p:nvSpPr>
          <p:cNvPr id="10" name="Shape 8"/>
          <p:cNvSpPr/>
          <p:nvPr/>
        </p:nvSpPr>
        <p:spPr>
          <a:xfrm>
            <a:off x="6492240" y="1664208"/>
            <a:ext cx="4389120" cy="0"/>
          </a:xfrm>
          <a:prstGeom prst="line">
            <a:avLst/>
          </a:prstGeom>
          <a:noFill/>
          <a:ln w="12700">
            <a:solidFill>
              <a:srgbClr val="D9E2EC"/>
            </a:solidFill>
            <a:prstDash val="solid"/>
          </a:ln>
        </p:spPr>
      </p:sp>
      <p:sp>
        <p:nvSpPr>
          <p:cNvPr id="11" name="Text 9"/>
          <p:cNvSpPr/>
          <p:nvPr/>
        </p:nvSpPr>
        <p:spPr>
          <a:xfrm>
            <a:off x="6537960" y="1975104"/>
            <a:ext cx="1828800" cy="320040"/>
          </a:xfrm>
          <a:prstGeom prst="rect">
            <a:avLst/>
          </a:prstGeom>
          <a:noFill/>
        </p:spPr>
        <p:txBody>
          <a:bodyPr wrap="square" lIns="0" tIns="0" rIns="0" bIns="0" rtlCol="0" anchor="ctr"/>
          <a:lstStyle/>
          <a:p>
            <a:pPr marL="0" indent="0">
              <a:buNone/>
            </a:pPr>
            <a:r>
              <a:rPr lang="en-US" sz="1450" b="1" dirty="0">
                <a:solidFill>
                  <a:srgbClr val="14365D"/>
                </a:solidFill>
              </a:rPr>
              <a:t>InvoiceDate</a:t>
            </a:r>
            <a:endParaRPr lang="en-US" sz="1450" dirty="0"/>
          </a:p>
        </p:txBody>
      </p:sp>
      <p:sp>
        <p:nvSpPr>
          <p:cNvPr id="12" name="Text 10"/>
          <p:cNvSpPr/>
          <p:nvPr/>
        </p:nvSpPr>
        <p:spPr>
          <a:xfrm>
            <a:off x="8549640" y="1975104"/>
            <a:ext cx="2286000" cy="320040"/>
          </a:xfrm>
          <a:prstGeom prst="rect">
            <a:avLst/>
          </a:prstGeom>
          <a:noFill/>
        </p:spPr>
        <p:txBody>
          <a:bodyPr wrap="square" lIns="0" tIns="0" rIns="0" bIns="0" rtlCol="0" anchor="ctr"/>
          <a:lstStyle/>
          <a:p>
            <a:pPr marL="0" indent="0">
              <a:buNone/>
            </a:pPr>
            <a:r>
              <a:rPr lang="en-US" sz="1340" dirty="0">
                <a:solidFill>
                  <a:srgbClr val="4B5563"/>
                </a:solidFill>
              </a:rPr>
              <a:t>when they bought</a:t>
            </a:r>
            <a:endParaRPr lang="en-US" sz="1340" dirty="0"/>
          </a:p>
        </p:txBody>
      </p:sp>
      <p:sp>
        <p:nvSpPr>
          <p:cNvPr id="13" name="Shape 11"/>
          <p:cNvSpPr/>
          <p:nvPr/>
        </p:nvSpPr>
        <p:spPr>
          <a:xfrm>
            <a:off x="6492240" y="2377440"/>
            <a:ext cx="4389120" cy="0"/>
          </a:xfrm>
          <a:prstGeom prst="line">
            <a:avLst/>
          </a:prstGeom>
          <a:noFill/>
          <a:ln w="12700">
            <a:solidFill>
              <a:srgbClr val="D9E2EC"/>
            </a:solidFill>
            <a:prstDash val="solid"/>
          </a:ln>
        </p:spPr>
      </p:sp>
      <p:sp>
        <p:nvSpPr>
          <p:cNvPr id="14" name="Text 12"/>
          <p:cNvSpPr/>
          <p:nvPr/>
        </p:nvSpPr>
        <p:spPr>
          <a:xfrm>
            <a:off x="6537960" y="2688336"/>
            <a:ext cx="1828800" cy="320040"/>
          </a:xfrm>
          <a:prstGeom prst="rect">
            <a:avLst/>
          </a:prstGeom>
          <a:noFill/>
        </p:spPr>
        <p:txBody>
          <a:bodyPr wrap="square" lIns="0" tIns="0" rIns="0" bIns="0" rtlCol="0" anchor="ctr"/>
          <a:lstStyle/>
          <a:p>
            <a:pPr marL="0" indent="0">
              <a:buNone/>
            </a:pPr>
            <a:r>
              <a:rPr lang="en-US" sz="1450" b="1" dirty="0">
                <a:solidFill>
                  <a:srgbClr val="14365D"/>
                </a:solidFill>
              </a:rPr>
              <a:t>InvoiceNo</a:t>
            </a:r>
            <a:endParaRPr lang="en-US" sz="1450" dirty="0"/>
          </a:p>
        </p:txBody>
      </p:sp>
      <p:sp>
        <p:nvSpPr>
          <p:cNvPr id="15" name="Text 13"/>
          <p:cNvSpPr/>
          <p:nvPr/>
        </p:nvSpPr>
        <p:spPr>
          <a:xfrm>
            <a:off x="8549640" y="2688336"/>
            <a:ext cx="2286000" cy="320040"/>
          </a:xfrm>
          <a:prstGeom prst="rect">
            <a:avLst/>
          </a:prstGeom>
          <a:noFill/>
        </p:spPr>
        <p:txBody>
          <a:bodyPr wrap="square" lIns="0" tIns="0" rIns="0" bIns="0" rtlCol="0" anchor="ctr"/>
          <a:lstStyle/>
          <a:p>
            <a:pPr marL="0" indent="0">
              <a:buNone/>
            </a:pPr>
            <a:r>
              <a:rPr lang="en-US" sz="1340" dirty="0">
                <a:solidFill>
                  <a:srgbClr val="4B5563"/>
                </a:solidFill>
              </a:rPr>
              <a:t>purchase count</a:t>
            </a:r>
            <a:endParaRPr lang="en-US" sz="1340" dirty="0"/>
          </a:p>
        </p:txBody>
      </p:sp>
      <p:sp>
        <p:nvSpPr>
          <p:cNvPr id="16" name="Shape 14"/>
          <p:cNvSpPr/>
          <p:nvPr/>
        </p:nvSpPr>
        <p:spPr>
          <a:xfrm>
            <a:off x="6492240" y="3090672"/>
            <a:ext cx="4389120" cy="0"/>
          </a:xfrm>
          <a:prstGeom prst="line">
            <a:avLst/>
          </a:prstGeom>
          <a:noFill/>
          <a:ln w="12700">
            <a:solidFill>
              <a:srgbClr val="D9E2EC"/>
            </a:solidFill>
            <a:prstDash val="solid"/>
          </a:ln>
        </p:spPr>
      </p:sp>
      <p:sp>
        <p:nvSpPr>
          <p:cNvPr id="17" name="Text 15"/>
          <p:cNvSpPr/>
          <p:nvPr/>
        </p:nvSpPr>
        <p:spPr>
          <a:xfrm>
            <a:off x="6537960" y="3401568"/>
            <a:ext cx="1828800" cy="320040"/>
          </a:xfrm>
          <a:prstGeom prst="rect">
            <a:avLst/>
          </a:prstGeom>
          <a:noFill/>
        </p:spPr>
        <p:txBody>
          <a:bodyPr wrap="square" lIns="0" tIns="0" rIns="0" bIns="0" rtlCol="0" anchor="ctr"/>
          <a:lstStyle/>
          <a:p>
            <a:pPr marL="0" indent="0">
              <a:buNone/>
            </a:pPr>
            <a:r>
              <a:rPr lang="en-US" sz="1450" b="1" dirty="0">
                <a:solidFill>
                  <a:srgbClr val="14365D"/>
                </a:solidFill>
              </a:rPr>
              <a:t>Quantity</a:t>
            </a:r>
            <a:endParaRPr lang="en-US" sz="1450" dirty="0"/>
          </a:p>
        </p:txBody>
      </p:sp>
      <p:sp>
        <p:nvSpPr>
          <p:cNvPr id="18" name="Text 16"/>
          <p:cNvSpPr/>
          <p:nvPr/>
        </p:nvSpPr>
        <p:spPr>
          <a:xfrm>
            <a:off x="8549640" y="3401568"/>
            <a:ext cx="2286000" cy="320040"/>
          </a:xfrm>
          <a:prstGeom prst="rect">
            <a:avLst/>
          </a:prstGeom>
          <a:noFill/>
        </p:spPr>
        <p:txBody>
          <a:bodyPr wrap="square" lIns="0" tIns="0" rIns="0" bIns="0" rtlCol="0" anchor="ctr"/>
          <a:lstStyle/>
          <a:p>
            <a:pPr marL="0" indent="0">
              <a:buNone/>
            </a:pPr>
            <a:r>
              <a:rPr lang="en-US" sz="1340" dirty="0">
                <a:solidFill>
                  <a:srgbClr val="4B5563"/>
                </a:solidFill>
              </a:rPr>
              <a:t>items bought</a:t>
            </a:r>
            <a:endParaRPr lang="en-US" sz="1340" dirty="0"/>
          </a:p>
        </p:txBody>
      </p:sp>
      <p:sp>
        <p:nvSpPr>
          <p:cNvPr id="19" name="Shape 17"/>
          <p:cNvSpPr/>
          <p:nvPr/>
        </p:nvSpPr>
        <p:spPr>
          <a:xfrm>
            <a:off x="6492240" y="3803904"/>
            <a:ext cx="4389120" cy="0"/>
          </a:xfrm>
          <a:prstGeom prst="line">
            <a:avLst/>
          </a:prstGeom>
          <a:noFill/>
          <a:ln w="12700">
            <a:solidFill>
              <a:srgbClr val="D9E2EC"/>
            </a:solidFill>
            <a:prstDash val="solid"/>
          </a:ln>
        </p:spPr>
      </p:sp>
      <p:sp>
        <p:nvSpPr>
          <p:cNvPr id="20" name="Text 18"/>
          <p:cNvSpPr/>
          <p:nvPr/>
        </p:nvSpPr>
        <p:spPr>
          <a:xfrm>
            <a:off x="6537960" y="4114800"/>
            <a:ext cx="1828800" cy="320040"/>
          </a:xfrm>
          <a:prstGeom prst="rect">
            <a:avLst/>
          </a:prstGeom>
          <a:noFill/>
        </p:spPr>
        <p:txBody>
          <a:bodyPr wrap="square" lIns="0" tIns="0" rIns="0" bIns="0" rtlCol="0" anchor="ctr"/>
          <a:lstStyle/>
          <a:p>
            <a:pPr marL="0" indent="0">
              <a:buNone/>
            </a:pPr>
            <a:r>
              <a:rPr lang="en-US" sz="1450" b="1" dirty="0">
                <a:solidFill>
                  <a:srgbClr val="14365D"/>
                </a:solidFill>
              </a:rPr>
              <a:t>UnitPrice</a:t>
            </a:r>
            <a:endParaRPr lang="en-US" sz="1450" dirty="0"/>
          </a:p>
        </p:txBody>
      </p:sp>
      <p:sp>
        <p:nvSpPr>
          <p:cNvPr id="21" name="Text 19"/>
          <p:cNvSpPr/>
          <p:nvPr/>
        </p:nvSpPr>
        <p:spPr>
          <a:xfrm>
            <a:off x="8549640" y="4114800"/>
            <a:ext cx="2286000" cy="320040"/>
          </a:xfrm>
          <a:prstGeom prst="rect">
            <a:avLst/>
          </a:prstGeom>
          <a:noFill/>
        </p:spPr>
        <p:txBody>
          <a:bodyPr wrap="square" lIns="0" tIns="0" rIns="0" bIns="0" rtlCol="0" anchor="ctr"/>
          <a:lstStyle/>
          <a:p>
            <a:pPr marL="0" indent="0">
              <a:buNone/>
            </a:pPr>
            <a:r>
              <a:rPr lang="en-US" sz="1340" dirty="0">
                <a:solidFill>
                  <a:srgbClr val="4B5563"/>
                </a:solidFill>
              </a:rPr>
              <a:t>price per item</a:t>
            </a:r>
            <a:endParaRPr lang="en-US" sz="1340" dirty="0"/>
          </a:p>
        </p:txBody>
      </p:sp>
      <p:sp>
        <p:nvSpPr>
          <p:cNvPr id="22" name="Shape 20"/>
          <p:cNvSpPr/>
          <p:nvPr/>
        </p:nvSpPr>
        <p:spPr>
          <a:xfrm>
            <a:off x="6492240" y="4517136"/>
            <a:ext cx="4389120" cy="0"/>
          </a:xfrm>
          <a:prstGeom prst="line">
            <a:avLst/>
          </a:prstGeom>
          <a:noFill/>
          <a:ln w="12700">
            <a:solidFill>
              <a:srgbClr val="D9E2EC"/>
            </a:solidFill>
            <a:prstDash val="solid"/>
          </a:ln>
        </p:spPr>
      </p:sp>
      <p:sp>
        <p:nvSpPr>
          <p:cNvPr id="23" name="Text 21"/>
          <p:cNvSpPr/>
          <p:nvPr/>
        </p:nvSpPr>
        <p:spPr>
          <a:xfrm>
            <a:off x="1325880" y="4983480"/>
            <a:ext cx="9326880" cy="457200"/>
          </a:xfrm>
          <a:prstGeom prst="rect">
            <a:avLst/>
          </a:prstGeom>
          <a:solidFill>
            <a:srgbClr val="1D7C80"/>
          </a:solidFill>
          <a:ln>
            <a:solidFill>
              <a:srgbClr val="1D7C80">
                <a:alpha val="0"/>
              </a:srgbClr>
            </a:solidFill>
          </a:ln>
        </p:spPr>
        <p:txBody>
          <a:bodyPr wrap="square" lIns="635" tIns="635" rIns="635" bIns="635" rtlCol="0" anchor="ctr"/>
          <a:lstStyle/>
          <a:p>
            <a:pPr marL="0" indent="0" algn="ctr">
              <a:buNone/>
            </a:pPr>
            <a:r>
              <a:rPr lang="en-US" sz="1720" b="1" dirty="0">
                <a:solidFill>
                  <a:srgbClr val="FFFFFF"/>
                </a:solidFill>
              </a:rPr>
              <a:t>From these columns, we calculate: Recency · Frequency · Monetary</a:t>
            </a:r>
            <a:endParaRPr lang="en-US" sz="1720" dirty="0"/>
          </a:p>
        </p:txBody>
      </p:sp>
      <p:sp>
        <p:nvSpPr>
          <p:cNvPr id="24" name="Text 22"/>
          <p:cNvSpPr/>
          <p:nvPr/>
        </p:nvSpPr>
        <p:spPr>
          <a:xfrm>
            <a:off x="566928" y="6473952"/>
            <a:ext cx="5669280" cy="201168"/>
          </a:xfrm>
          <a:prstGeom prst="rect">
            <a:avLst/>
          </a:prstGeom>
          <a:noFill/>
        </p:spPr>
        <p:txBody>
          <a:bodyPr wrap="square" lIns="0" tIns="0" rIns="0" bIns="0" rtlCol="0" anchor="ctr"/>
          <a:lstStyle/>
          <a:p>
            <a:pPr marL="0" indent="0">
              <a:buNone/>
            </a:pPr>
            <a:r>
              <a:rPr lang="en-US" sz="850" dirty="0">
                <a:solidFill>
                  <a:srgbClr val="FFFFFF"/>
                </a:solidFill>
              </a:rPr>
              <a:t>RFM Customer Segmentation using K-Means</a:t>
            </a:r>
            <a:endParaRPr lang="en-US" sz="850" dirty="0"/>
          </a:p>
        </p:txBody>
      </p:sp>
      <p:sp>
        <p:nvSpPr>
          <p:cNvPr id="25" name="Text 23"/>
          <p:cNvSpPr/>
          <p:nvPr/>
        </p:nvSpPr>
        <p:spPr>
          <a:xfrm>
            <a:off x="11292840" y="6473952"/>
            <a:ext cx="320040" cy="201168"/>
          </a:xfrm>
          <a:prstGeom prst="rect">
            <a:avLst/>
          </a:prstGeom>
          <a:noFill/>
        </p:spPr>
        <p:txBody>
          <a:bodyPr wrap="square" lIns="0" tIns="0" rIns="0" bIns="0" rtlCol="0" anchor="ctr"/>
          <a:lstStyle/>
          <a:p>
            <a:pPr marL="0" indent="0" algn="r">
              <a:buNone/>
            </a:pPr>
            <a:r>
              <a:rPr lang="en-US" sz="850" dirty="0">
                <a:solidFill>
                  <a:srgbClr val="FFFFFF"/>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6355080"/>
            <a:ext cx="12191695" cy="502920"/>
          </a:xfrm>
          <a:prstGeom prst="rect">
            <a:avLst/>
          </a:prstGeom>
          <a:solidFill>
            <a:srgbClr val="14365D"/>
          </a:solidFill>
          <a:ln w="12700">
            <a:solidFill>
              <a:srgbClr val="14365D">
                <a:alpha val="0"/>
              </a:srgbClr>
            </a:solidFill>
            <a:prstDash val="solid"/>
          </a:ln>
        </p:spPr>
      </p:sp>
      <p:sp>
        <p:nvSpPr>
          <p:cNvPr id="4" name="Text 2"/>
          <p:cNvSpPr/>
          <p:nvPr/>
        </p:nvSpPr>
        <p:spPr>
          <a:xfrm>
            <a:off x="658368" y="384048"/>
            <a:ext cx="8046720" cy="502920"/>
          </a:xfrm>
          <a:prstGeom prst="rect">
            <a:avLst/>
          </a:prstGeom>
          <a:noFill/>
        </p:spPr>
        <p:txBody>
          <a:bodyPr wrap="square" lIns="0" tIns="0" rIns="0" bIns="0" rtlCol="0" anchor="ctr"/>
          <a:lstStyle/>
          <a:p>
            <a:pPr marL="0" indent="0">
              <a:buNone/>
            </a:pPr>
            <a:r>
              <a:rPr lang="en-US" sz="2900" b="1" dirty="0">
                <a:solidFill>
                  <a:srgbClr val="14365D"/>
                </a:solidFill>
                <a:latin typeface="Aptos Display" pitchFamily="34" charset="0"/>
                <a:ea typeface="Aptos Display" pitchFamily="34" charset="-122"/>
                <a:cs typeface="Aptos Display" pitchFamily="34" charset="-120"/>
              </a:rPr>
              <a:t>Methodology</a:t>
            </a:r>
            <a:endParaRPr lang="en-US" sz="2900" dirty="0"/>
          </a:p>
        </p:txBody>
      </p:sp>
      <p:sp>
        <p:nvSpPr>
          <p:cNvPr id="5" name="Text 3"/>
          <p:cNvSpPr/>
          <p:nvPr/>
        </p:nvSpPr>
        <p:spPr>
          <a:xfrm>
            <a:off x="676656" y="932688"/>
            <a:ext cx="7132320" cy="292608"/>
          </a:xfrm>
          <a:prstGeom prst="rect">
            <a:avLst/>
          </a:prstGeom>
          <a:noFill/>
        </p:spPr>
        <p:txBody>
          <a:bodyPr wrap="square" lIns="0" tIns="0" rIns="0" bIns="0" rtlCol="0" anchor="ctr"/>
          <a:lstStyle/>
          <a:p>
            <a:pPr marL="0" indent="0">
              <a:buNone/>
            </a:pPr>
            <a:r>
              <a:rPr lang="en-US" sz="1250" dirty="0">
                <a:solidFill>
                  <a:srgbClr val="4B5563"/>
                </a:solidFill>
              </a:rPr>
              <a:t>From raw transactions to customer segments</a:t>
            </a:r>
            <a:endParaRPr lang="en-US" sz="1250" dirty="0"/>
          </a:p>
        </p:txBody>
      </p:sp>
      <p:sp>
        <p:nvSpPr>
          <p:cNvPr id="6" name="Text 4"/>
          <p:cNvSpPr/>
          <p:nvPr/>
        </p:nvSpPr>
        <p:spPr>
          <a:xfrm>
            <a:off x="548640" y="2304288"/>
            <a:ext cx="1143000" cy="548640"/>
          </a:xfrm>
          <a:prstGeom prst="rect">
            <a:avLst/>
          </a:prstGeom>
          <a:solidFill>
            <a:srgbClr val="4B5563"/>
          </a:solidFill>
          <a:ln>
            <a:solidFill>
              <a:srgbClr val="4B5563">
                <a:alpha val="0"/>
              </a:srgbClr>
            </a:solidFill>
          </a:ln>
        </p:spPr>
        <p:txBody>
          <a:bodyPr wrap="square" lIns="381" tIns="381" rIns="381" bIns="381" rtlCol="0" anchor="ctr"/>
          <a:lstStyle/>
          <a:p>
            <a:pPr marL="0" indent="0" algn="ctr">
              <a:buNone/>
            </a:pPr>
            <a:r>
              <a:rPr lang="en-US" sz="1280" b="1" dirty="0">
                <a:solidFill>
                  <a:srgbClr val="FFFFFF"/>
                </a:solidFill>
              </a:rPr>
              <a:t>Dataset</a:t>
            </a:r>
            <a:endParaRPr lang="en-US" sz="1280" dirty="0"/>
          </a:p>
        </p:txBody>
      </p:sp>
      <p:sp>
        <p:nvSpPr>
          <p:cNvPr id="7" name="Shape 5"/>
          <p:cNvSpPr/>
          <p:nvPr/>
        </p:nvSpPr>
        <p:spPr>
          <a:xfrm>
            <a:off x="1755648" y="2578608"/>
            <a:ext cx="384048" cy="0"/>
          </a:xfrm>
          <a:prstGeom prst="line">
            <a:avLst/>
          </a:prstGeom>
          <a:noFill/>
          <a:ln w="25400">
            <a:solidFill>
              <a:srgbClr val="D9E2EC"/>
            </a:solidFill>
            <a:prstDash val="solid"/>
            <a:tailEnd type="triangle"/>
          </a:ln>
        </p:spPr>
      </p:sp>
      <p:sp>
        <p:nvSpPr>
          <p:cNvPr id="8" name="Text 6"/>
          <p:cNvSpPr/>
          <p:nvPr/>
        </p:nvSpPr>
        <p:spPr>
          <a:xfrm>
            <a:off x="2185416" y="2304288"/>
            <a:ext cx="1143000" cy="548640"/>
          </a:xfrm>
          <a:prstGeom prst="rect">
            <a:avLst/>
          </a:prstGeom>
          <a:solidFill>
            <a:srgbClr val="1D7C80"/>
          </a:solidFill>
          <a:ln>
            <a:solidFill>
              <a:srgbClr val="1D7C80">
                <a:alpha val="0"/>
              </a:srgbClr>
            </a:solidFill>
          </a:ln>
        </p:spPr>
        <p:txBody>
          <a:bodyPr wrap="square" lIns="381" tIns="381" rIns="381" bIns="381" rtlCol="0" anchor="ctr"/>
          <a:lstStyle/>
          <a:p>
            <a:pPr marL="0" indent="0" algn="ctr">
              <a:buNone/>
            </a:pPr>
            <a:r>
              <a:rPr lang="en-US" sz="1280" b="1" dirty="0">
                <a:solidFill>
                  <a:srgbClr val="FFFFFF"/>
                </a:solidFill>
              </a:rPr>
              <a:t>Clean</a:t>
            </a:r>
            <a:endParaRPr lang="en-US" sz="1280" dirty="0"/>
          </a:p>
        </p:txBody>
      </p:sp>
      <p:sp>
        <p:nvSpPr>
          <p:cNvPr id="9" name="Shape 7"/>
          <p:cNvSpPr/>
          <p:nvPr/>
        </p:nvSpPr>
        <p:spPr>
          <a:xfrm>
            <a:off x="3392424" y="2578608"/>
            <a:ext cx="384048" cy="0"/>
          </a:xfrm>
          <a:prstGeom prst="line">
            <a:avLst/>
          </a:prstGeom>
          <a:noFill/>
          <a:ln w="25400">
            <a:solidFill>
              <a:srgbClr val="D9E2EC"/>
            </a:solidFill>
            <a:prstDash val="solid"/>
            <a:tailEnd type="triangle"/>
          </a:ln>
        </p:spPr>
      </p:sp>
      <p:sp>
        <p:nvSpPr>
          <p:cNvPr id="10" name="Text 8"/>
          <p:cNvSpPr/>
          <p:nvPr/>
        </p:nvSpPr>
        <p:spPr>
          <a:xfrm>
            <a:off x="3822192" y="2304288"/>
            <a:ext cx="1143000" cy="548640"/>
          </a:xfrm>
          <a:prstGeom prst="rect">
            <a:avLst/>
          </a:prstGeom>
          <a:solidFill>
            <a:srgbClr val="F5B642"/>
          </a:solidFill>
          <a:ln>
            <a:solidFill>
              <a:srgbClr val="F5B642">
                <a:alpha val="0"/>
              </a:srgbClr>
            </a:solidFill>
          </a:ln>
        </p:spPr>
        <p:txBody>
          <a:bodyPr wrap="square" lIns="381" tIns="381" rIns="381" bIns="381" rtlCol="0" anchor="ctr"/>
          <a:lstStyle/>
          <a:p>
            <a:pPr marL="0" indent="0" algn="ctr">
              <a:buNone/>
            </a:pPr>
            <a:r>
              <a:rPr lang="en-US" sz="1280" b="1" dirty="0">
                <a:solidFill>
                  <a:srgbClr val="FFFFFF"/>
                </a:solidFill>
              </a:rPr>
              <a:t>RFM Table</a:t>
            </a:r>
            <a:endParaRPr lang="en-US" sz="1280" dirty="0"/>
          </a:p>
        </p:txBody>
      </p:sp>
      <p:sp>
        <p:nvSpPr>
          <p:cNvPr id="11" name="Shape 9"/>
          <p:cNvSpPr/>
          <p:nvPr/>
        </p:nvSpPr>
        <p:spPr>
          <a:xfrm>
            <a:off x="5029200" y="2578608"/>
            <a:ext cx="384048" cy="0"/>
          </a:xfrm>
          <a:prstGeom prst="line">
            <a:avLst/>
          </a:prstGeom>
          <a:noFill/>
          <a:ln w="25400">
            <a:solidFill>
              <a:srgbClr val="D9E2EC"/>
            </a:solidFill>
            <a:prstDash val="solid"/>
            <a:tailEnd type="triangle"/>
          </a:ln>
        </p:spPr>
      </p:sp>
      <p:sp>
        <p:nvSpPr>
          <p:cNvPr id="12" name="Text 10"/>
          <p:cNvSpPr/>
          <p:nvPr/>
        </p:nvSpPr>
        <p:spPr>
          <a:xfrm>
            <a:off x="5458968" y="2304288"/>
            <a:ext cx="1143000" cy="548640"/>
          </a:xfrm>
          <a:prstGeom prst="rect">
            <a:avLst/>
          </a:prstGeom>
          <a:solidFill>
            <a:srgbClr val="F77764"/>
          </a:solidFill>
          <a:ln>
            <a:solidFill>
              <a:srgbClr val="F77764">
                <a:alpha val="0"/>
              </a:srgbClr>
            </a:solidFill>
          </a:ln>
        </p:spPr>
        <p:txBody>
          <a:bodyPr wrap="square" lIns="381" tIns="381" rIns="381" bIns="381" rtlCol="0" anchor="ctr"/>
          <a:lstStyle/>
          <a:p>
            <a:pPr marL="0" indent="0" algn="ctr">
              <a:buNone/>
            </a:pPr>
            <a:r>
              <a:rPr lang="en-US" sz="1280" b="1" dirty="0">
                <a:solidFill>
                  <a:srgbClr val="FFFFFF"/>
                </a:solidFill>
              </a:rPr>
              <a:t>Scale</a:t>
            </a:r>
            <a:endParaRPr lang="en-US" sz="1280" dirty="0"/>
          </a:p>
        </p:txBody>
      </p:sp>
      <p:sp>
        <p:nvSpPr>
          <p:cNvPr id="13" name="Shape 11"/>
          <p:cNvSpPr/>
          <p:nvPr/>
        </p:nvSpPr>
        <p:spPr>
          <a:xfrm>
            <a:off x="6665976" y="2578608"/>
            <a:ext cx="384048" cy="0"/>
          </a:xfrm>
          <a:prstGeom prst="line">
            <a:avLst/>
          </a:prstGeom>
          <a:noFill/>
          <a:ln w="25400">
            <a:solidFill>
              <a:srgbClr val="D9E2EC"/>
            </a:solidFill>
            <a:prstDash val="solid"/>
            <a:tailEnd type="triangle"/>
          </a:ln>
        </p:spPr>
      </p:sp>
      <p:sp>
        <p:nvSpPr>
          <p:cNvPr id="14" name="Text 12"/>
          <p:cNvSpPr/>
          <p:nvPr/>
        </p:nvSpPr>
        <p:spPr>
          <a:xfrm>
            <a:off x="7095744" y="2304288"/>
            <a:ext cx="1143000" cy="548640"/>
          </a:xfrm>
          <a:prstGeom prst="rect">
            <a:avLst/>
          </a:prstGeom>
          <a:solidFill>
            <a:srgbClr val="58A55C"/>
          </a:solidFill>
          <a:ln>
            <a:solidFill>
              <a:srgbClr val="58A55C">
                <a:alpha val="0"/>
              </a:srgbClr>
            </a:solidFill>
          </a:ln>
        </p:spPr>
        <p:txBody>
          <a:bodyPr wrap="square" lIns="381" tIns="381" rIns="381" bIns="381" rtlCol="0" anchor="ctr"/>
          <a:lstStyle/>
          <a:p>
            <a:pPr marL="0" indent="0" algn="ctr">
              <a:buNone/>
            </a:pPr>
            <a:r>
              <a:rPr lang="en-US" sz="1280" b="1" dirty="0">
                <a:solidFill>
                  <a:srgbClr val="FFFFFF"/>
                </a:solidFill>
              </a:rPr>
              <a:t>Choose K</a:t>
            </a:r>
            <a:endParaRPr lang="en-US" sz="1280" dirty="0"/>
          </a:p>
        </p:txBody>
      </p:sp>
      <p:sp>
        <p:nvSpPr>
          <p:cNvPr id="15" name="Shape 13"/>
          <p:cNvSpPr/>
          <p:nvPr/>
        </p:nvSpPr>
        <p:spPr>
          <a:xfrm>
            <a:off x="8302752" y="2578608"/>
            <a:ext cx="384048" cy="0"/>
          </a:xfrm>
          <a:prstGeom prst="line">
            <a:avLst/>
          </a:prstGeom>
          <a:noFill/>
          <a:ln w="25400">
            <a:solidFill>
              <a:srgbClr val="D9E2EC"/>
            </a:solidFill>
            <a:prstDash val="solid"/>
            <a:tailEnd type="triangle"/>
          </a:ln>
        </p:spPr>
      </p:sp>
      <p:sp>
        <p:nvSpPr>
          <p:cNvPr id="16" name="Text 14"/>
          <p:cNvSpPr/>
          <p:nvPr/>
        </p:nvSpPr>
        <p:spPr>
          <a:xfrm>
            <a:off x="8732520" y="2304288"/>
            <a:ext cx="1143000" cy="548640"/>
          </a:xfrm>
          <a:prstGeom prst="rect">
            <a:avLst/>
          </a:prstGeom>
          <a:solidFill>
            <a:srgbClr val="14365D"/>
          </a:solidFill>
          <a:ln>
            <a:solidFill>
              <a:srgbClr val="14365D">
                <a:alpha val="0"/>
              </a:srgbClr>
            </a:solidFill>
          </a:ln>
        </p:spPr>
        <p:txBody>
          <a:bodyPr wrap="square" lIns="381" tIns="381" rIns="381" bIns="381" rtlCol="0" anchor="ctr"/>
          <a:lstStyle/>
          <a:p>
            <a:pPr marL="0" indent="0" algn="ctr">
              <a:buNone/>
            </a:pPr>
            <a:r>
              <a:rPr lang="en-US" sz="1280" b="1" dirty="0">
                <a:solidFill>
                  <a:srgbClr val="FFFFFF"/>
                </a:solidFill>
              </a:rPr>
              <a:t>K-Means</a:t>
            </a:r>
            <a:endParaRPr lang="en-US" sz="1280" dirty="0"/>
          </a:p>
        </p:txBody>
      </p:sp>
      <p:sp>
        <p:nvSpPr>
          <p:cNvPr id="17" name="Shape 15"/>
          <p:cNvSpPr/>
          <p:nvPr/>
        </p:nvSpPr>
        <p:spPr>
          <a:xfrm>
            <a:off x="9939528" y="2578608"/>
            <a:ext cx="384048" cy="0"/>
          </a:xfrm>
          <a:prstGeom prst="line">
            <a:avLst/>
          </a:prstGeom>
          <a:noFill/>
          <a:ln w="25400">
            <a:solidFill>
              <a:srgbClr val="D9E2EC"/>
            </a:solidFill>
            <a:prstDash val="solid"/>
            <a:tailEnd type="triangle"/>
          </a:ln>
        </p:spPr>
      </p:sp>
      <p:sp>
        <p:nvSpPr>
          <p:cNvPr id="18" name="Text 16"/>
          <p:cNvSpPr/>
          <p:nvPr/>
        </p:nvSpPr>
        <p:spPr>
          <a:xfrm>
            <a:off x="10369296" y="2304288"/>
            <a:ext cx="1143000" cy="548640"/>
          </a:xfrm>
          <a:prstGeom prst="rect">
            <a:avLst/>
          </a:prstGeom>
          <a:solidFill>
            <a:srgbClr val="1D7C80"/>
          </a:solidFill>
          <a:ln>
            <a:solidFill>
              <a:srgbClr val="1D7C80">
                <a:alpha val="0"/>
              </a:srgbClr>
            </a:solidFill>
          </a:ln>
        </p:spPr>
        <p:txBody>
          <a:bodyPr wrap="square" lIns="381" tIns="381" rIns="381" bIns="381" rtlCol="0" anchor="ctr"/>
          <a:lstStyle/>
          <a:p>
            <a:pPr marL="0" indent="0" algn="ctr">
              <a:buNone/>
            </a:pPr>
            <a:r>
              <a:rPr lang="en-US" sz="1280" b="1" dirty="0">
                <a:solidFill>
                  <a:srgbClr val="FFFFFF"/>
                </a:solidFill>
              </a:rPr>
              <a:t>Segments</a:t>
            </a:r>
            <a:endParaRPr lang="en-US" sz="1280" dirty="0"/>
          </a:p>
        </p:txBody>
      </p:sp>
      <p:sp>
        <p:nvSpPr>
          <p:cNvPr id="19" name="Text 17"/>
          <p:cNvSpPr/>
          <p:nvPr/>
        </p:nvSpPr>
        <p:spPr>
          <a:xfrm>
            <a:off x="914400" y="3657600"/>
            <a:ext cx="2971800" cy="347472"/>
          </a:xfrm>
          <a:prstGeom prst="rect">
            <a:avLst/>
          </a:prstGeom>
          <a:noFill/>
        </p:spPr>
        <p:txBody>
          <a:bodyPr wrap="square" lIns="0" tIns="0" rIns="0" bIns="0" rtlCol="0" anchor="ctr"/>
          <a:lstStyle/>
          <a:p>
            <a:pPr marL="0" indent="0">
              <a:buNone/>
            </a:pPr>
            <a:r>
              <a:rPr lang="en-US" sz="1700" b="1" dirty="0">
                <a:solidFill>
                  <a:srgbClr val="14365D"/>
                </a:solidFill>
              </a:rPr>
              <a:t>RFM table = one row per customer</a:t>
            </a:r>
            <a:endParaRPr lang="en-US" sz="1700" dirty="0"/>
          </a:p>
        </p:txBody>
      </p:sp>
      <p:sp>
        <p:nvSpPr>
          <p:cNvPr id="20" name="Text 18"/>
          <p:cNvSpPr/>
          <p:nvPr/>
        </p:nvSpPr>
        <p:spPr>
          <a:xfrm>
            <a:off x="914400" y="4160520"/>
            <a:ext cx="3931920" cy="960120"/>
          </a:xfrm>
          <a:prstGeom prst="rect">
            <a:avLst/>
          </a:prstGeom>
          <a:noFill/>
        </p:spPr>
        <p:txBody>
          <a:bodyPr wrap="square" lIns="0" tIns="0" rIns="0" bIns="0" rtlCol="0" anchor="ctr"/>
          <a:lstStyle/>
          <a:p>
            <a:pPr marL="0" indent="0">
              <a:buNone/>
            </a:pPr>
            <a:r>
              <a:rPr lang="en-US" sz="1450" dirty="0">
                <a:solidFill>
                  <a:srgbClr val="111827"/>
                </a:solidFill>
              </a:rPr>
              <a:t>Recency: days since last purchase</a:t>
            </a:r>
            <a:endParaRPr lang="en-US" sz="1450" dirty="0"/>
          </a:p>
          <a:p>
            <a:pPr marL="0" indent="0">
              <a:buNone/>
            </a:pPr>
            <a:r>
              <a:rPr lang="en-US" sz="1450" dirty="0">
                <a:solidFill>
                  <a:srgbClr val="111827"/>
                </a:solidFill>
              </a:rPr>
              <a:t>Frequency: number of purchases</a:t>
            </a:r>
            <a:endParaRPr lang="en-US" sz="1450" dirty="0"/>
          </a:p>
          <a:p>
            <a:pPr marL="0" indent="0">
              <a:buNone/>
            </a:pPr>
            <a:r>
              <a:rPr lang="en-US" sz="1450" dirty="0">
                <a:solidFill>
                  <a:srgbClr val="111827"/>
                </a:solidFill>
              </a:rPr>
              <a:t>Monetary: total customer spending</a:t>
            </a:r>
            <a:endParaRPr lang="en-US" sz="1450" dirty="0"/>
          </a:p>
        </p:txBody>
      </p:sp>
      <p:sp>
        <p:nvSpPr>
          <p:cNvPr id="21" name="Text 19"/>
          <p:cNvSpPr/>
          <p:nvPr/>
        </p:nvSpPr>
        <p:spPr>
          <a:xfrm>
            <a:off x="6583680" y="3657600"/>
            <a:ext cx="2011680" cy="347472"/>
          </a:xfrm>
          <a:prstGeom prst="rect">
            <a:avLst/>
          </a:prstGeom>
          <a:noFill/>
        </p:spPr>
        <p:txBody>
          <a:bodyPr wrap="square" lIns="0" tIns="0" rIns="0" bIns="0" rtlCol="0" anchor="ctr"/>
          <a:lstStyle/>
          <a:p>
            <a:pPr marL="0" indent="0">
              <a:buNone/>
            </a:pPr>
            <a:r>
              <a:rPr lang="en-US" sz="1700" b="1" dirty="0">
                <a:solidFill>
                  <a:srgbClr val="14365D"/>
                </a:solidFill>
              </a:rPr>
              <a:t>K selection</a:t>
            </a:r>
            <a:endParaRPr lang="en-US" sz="1700" dirty="0"/>
          </a:p>
        </p:txBody>
      </p:sp>
      <p:sp>
        <p:nvSpPr>
          <p:cNvPr id="22" name="Text 20"/>
          <p:cNvSpPr/>
          <p:nvPr/>
        </p:nvSpPr>
        <p:spPr>
          <a:xfrm>
            <a:off x="6583680" y="4160520"/>
            <a:ext cx="3931920" cy="658368"/>
          </a:xfrm>
          <a:prstGeom prst="rect">
            <a:avLst/>
          </a:prstGeom>
          <a:noFill/>
        </p:spPr>
        <p:txBody>
          <a:bodyPr wrap="square" lIns="0" tIns="0" rIns="0" bIns="0" rtlCol="0" anchor="ctr"/>
          <a:lstStyle/>
          <a:p>
            <a:pPr marL="0" indent="0">
              <a:buNone/>
            </a:pPr>
            <a:r>
              <a:rPr lang="en-US" sz="1450" dirty="0">
                <a:solidFill>
                  <a:srgbClr val="111827"/>
                </a:solidFill>
              </a:rPr>
              <a:t>Elbow Method checks compactness</a:t>
            </a:r>
            <a:endParaRPr lang="en-US" sz="1450" dirty="0"/>
          </a:p>
          <a:p>
            <a:pPr marL="0" indent="0">
              <a:buNone/>
            </a:pPr>
            <a:r>
              <a:rPr lang="en-US" sz="1450" dirty="0">
                <a:solidFill>
                  <a:srgbClr val="111827"/>
                </a:solidFill>
              </a:rPr>
              <a:t>Silhouette Score checks separation</a:t>
            </a:r>
            <a:endParaRPr lang="en-US" sz="1450" dirty="0"/>
          </a:p>
        </p:txBody>
      </p:sp>
      <p:sp>
        <p:nvSpPr>
          <p:cNvPr id="23" name="Text 21"/>
          <p:cNvSpPr/>
          <p:nvPr/>
        </p:nvSpPr>
        <p:spPr>
          <a:xfrm>
            <a:off x="566928" y="6473952"/>
            <a:ext cx="5669280" cy="201168"/>
          </a:xfrm>
          <a:prstGeom prst="rect">
            <a:avLst/>
          </a:prstGeom>
          <a:noFill/>
        </p:spPr>
        <p:txBody>
          <a:bodyPr wrap="square" lIns="0" tIns="0" rIns="0" bIns="0" rtlCol="0" anchor="ctr"/>
          <a:lstStyle/>
          <a:p>
            <a:pPr marL="0" indent="0">
              <a:buNone/>
            </a:pPr>
            <a:r>
              <a:rPr lang="en-US" sz="850" dirty="0">
                <a:solidFill>
                  <a:srgbClr val="FFFFFF"/>
                </a:solidFill>
              </a:rPr>
              <a:t>RFM Customer Segmentation using K-Means</a:t>
            </a:r>
            <a:endParaRPr lang="en-US" sz="850" dirty="0"/>
          </a:p>
        </p:txBody>
      </p:sp>
      <p:sp>
        <p:nvSpPr>
          <p:cNvPr id="24" name="Text 22"/>
          <p:cNvSpPr/>
          <p:nvPr/>
        </p:nvSpPr>
        <p:spPr>
          <a:xfrm>
            <a:off x="11292840" y="6473952"/>
            <a:ext cx="320040" cy="201168"/>
          </a:xfrm>
          <a:prstGeom prst="rect">
            <a:avLst/>
          </a:prstGeom>
          <a:noFill/>
        </p:spPr>
        <p:txBody>
          <a:bodyPr wrap="square" lIns="0" tIns="0" rIns="0" bIns="0" rtlCol="0" anchor="ctr"/>
          <a:lstStyle/>
          <a:p>
            <a:pPr marL="0" indent="0" algn="r">
              <a:buNone/>
            </a:pPr>
            <a:r>
              <a:rPr lang="en-US" sz="850" dirty="0">
                <a:solidFill>
                  <a:srgbClr val="FFFFFF"/>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6355080"/>
            <a:ext cx="12191695" cy="502920"/>
          </a:xfrm>
          <a:prstGeom prst="rect">
            <a:avLst/>
          </a:prstGeom>
          <a:solidFill>
            <a:srgbClr val="14365D"/>
          </a:solidFill>
          <a:ln w="12700">
            <a:solidFill>
              <a:srgbClr val="14365D">
                <a:alpha val="0"/>
              </a:srgbClr>
            </a:solidFill>
            <a:prstDash val="solid"/>
          </a:ln>
        </p:spPr>
      </p:sp>
      <p:sp>
        <p:nvSpPr>
          <p:cNvPr id="4" name="Text 2"/>
          <p:cNvSpPr/>
          <p:nvPr/>
        </p:nvSpPr>
        <p:spPr>
          <a:xfrm>
            <a:off x="658368" y="384048"/>
            <a:ext cx="8046720" cy="502920"/>
          </a:xfrm>
          <a:prstGeom prst="rect">
            <a:avLst/>
          </a:prstGeom>
          <a:noFill/>
        </p:spPr>
        <p:txBody>
          <a:bodyPr wrap="square" lIns="0" tIns="0" rIns="0" bIns="0" rtlCol="0" anchor="ctr"/>
          <a:lstStyle/>
          <a:p>
            <a:pPr marL="0" indent="0">
              <a:buNone/>
            </a:pPr>
            <a:r>
              <a:rPr lang="en-US" sz="2900" b="1" dirty="0">
                <a:solidFill>
                  <a:srgbClr val="14365D"/>
                </a:solidFill>
                <a:latin typeface="Aptos Display" pitchFamily="34" charset="0"/>
                <a:ea typeface="Aptos Display" pitchFamily="34" charset="-122"/>
                <a:cs typeface="Aptos Display" pitchFamily="34" charset="-120"/>
              </a:rPr>
              <a:t>Expected Results</a:t>
            </a:r>
            <a:endParaRPr lang="en-US" sz="2900" dirty="0"/>
          </a:p>
        </p:txBody>
      </p:sp>
      <p:sp>
        <p:nvSpPr>
          <p:cNvPr id="5" name="Text 3"/>
          <p:cNvSpPr/>
          <p:nvPr/>
        </p:nvSpPr>
        <p:spPr>
          <a:xfrm>
            <a:off x="676656" y="932688"/>
            <a:ext cx="7132320" cy="292608"/>
          </a:xfrm>
          <a:prstGeom prst="rect">
            <a:avLst/>
          </a:prstGeom>
          <a:noFill/>
        </p:spPr>
        <p:txBody>
          <a:bodyPr wrap="square" lIns="0" tIns="0" rIns="0" bIns="0" rtlCol="0" anchor="ctr"/>
          <a:lstStyle/>
          <a:p>
            <a:pPr marL="0" indent="0">
              <a:buNone/>
            </a:pPr>
            <a:r>
              <a:rPr lang="en-US" sz="1250" dirty="0">
                <a:solidFill>
                  <a:srgbClr val="4B5563"/>
                </a:solidFill>
              </a:rPr>
              <a:t>Customer groups that can guide marketing actions</a:t>
            </a:r>
            <a:endParaRPr lang="en-US" sz="1250" dirty="0"/>
          </a:p>
        </p:txBody>
      </p:sp>
      <p:sp>
        <p:nvSpPr>
          <p:cNvPr id="6" name="Text 4"/>
          <p:cNvSpPr/>
          <p:nvPr/>
        </p:nvSpPr>
        <p:spPr>
          <a:xfrm>
            <a:off x="2560320" y="1600200"/>
            <a:ext cx="1417320" cy="402336"/>
          </a:xfrm>
          <a:prstGeom prst="rect">
            <a:avLst/>
          </a:prstGeom>
          <a:solidFill>
            <a:srgbClr val="58A55C"/>
          </a:solidFill>
          <a:ln>
            <a:solidFill>
              <a:srgbClr val="58A55C">
                <a:alpha val="0"/>
              </a:srgbClr>
            </a:solidFill>
          </a:ln>
        </p:spPr>
        <p:txBody>
          <a:bodyPr wrap="square" lIns="1016" tIns="1016" rIns="1016" bIns="1016" rtlCol="0" anchor="ctr"/>
          <a:lstStyle/>
          <a:p>
            <a:pPr marL="0" indent="0" algn="ctr">
              <a:buNone/>
            </a:pPr>
            <a:r>
              <a:rPr lang="en-US" sz="1300" b="1" dirty="0">
                <a:solidFill>
                  <a:srgbClr val="FFFFFF"/>
                </a:solidFill>
              </a:rPr>
              <a:t>Champions</a:t>
            </a:r>
            <a:endParaRPr lang="en-US" sz="1300" dirty="0"/>
          </a:p>
        </p:txBody>
      </p:sp>
      <p:sp>
        <p:nvSpPr>
          <p:cNvPr id="7" name="Text 5"/>
          <p:cNvSpPr/>
          <p:nvPr/>
        </p:nvSpPr>
        <p:spPr>
          <a:xfrm>
            <a:off x="3520440" y="2606040"/>
            <a:ext cx="1417320" cy="402336"/>
          </a:xfrm>
          <a:prstGeom prst="rect">
            <a:avLst/>
          </a:prstGeom>
          <a:solidFill>
            <a:srgbClr val="1D7C80"/>
          </a:solidFill>
          <a:ln>
            <a:solidFill>
              <a:srgbClr val="1D7C80">
                <a:alpha val="0"/>
              </a:srgbClr>
            </a:solidFill>
          </a:ln>
        </p:spPr>
        <p:txBody>
          <a:bodyPr wrap="square" lIns="1016" tIns="1016" rIns="1016" bIns="1016" rtlCol="0" anchor="ctr"/>
          <a:lstStyle/>
          <a:p>
            <a:pPr marL="0" indent="0" algn="ctr">
              <a:buNone/>
            </a:pPr>
            <a:r>
              <a:rPr lang="en-US" sz="1300" b="1" dirty="0">
                <a:solidFill>
                  <a:srgbClr val="FFFFFF"/>
                </a:solidFill>
              </a:rPr>
              <a:t>Loyal</a:t>
            </a:r>
            <a:endParaRPr lang="en-US" sz="1300" dirty="0"/>
          </a:p>
        </p:txBody>
      </p:sp>
      <p:sp>
        <p:nvSpPr>
          <p:cNvPr id="8" name="Text 6"/>
          <p:cNvSpPr/>
          <p:nvPr/>
        </p:nvSpPr>
        <p:spPr>
          <a:xfrm>
            <a:off x="5669280" y="1325880"/>
            <a:ext cx="1417320" cy="402336"/>
          </a:xfrm>
          <a:prstGeom prst="rect">
            <a:avLst/>
          </a:prstGeom>
          <a:solidFill>
            <a:srgbClr val="F5B642"/>
          </a:solidFill>
          <a:ln>
            <a:solidFill>
              <a:srgbClr val="F5B642">
                <a:alpha val="0"/>
              </a:srgbClr>
            </a:solidFill>
          </a:ln>
        </p:spPr>
        <p:txBody>
          <a:bodyPr wrap="square" lIns="1016" tIns="1016" rIns="1016" bIns="1016" rtlCol="0" anchor="ctr"/>
          <a:lstStyle/>
          <a:p>
            <a:pPr marL="0" indent="0" algn="ctr">
              <a:buNone/>
            </a:pPr>
            <a:r>
              <a:rPr lang="en-US" sz="1300" b="1" dirty="0">
                <a:solidFill>
                  <a:srgbClr val="FFFFFF"/>
                </a:solidFill>
              </a:rPr>
              <a:t>New</a:t>
            </a:r>
            <a:endParaRPr lang="en-US" sz="1300" dirty="0"/>
          </a:p>
        </p:txBody>
      </p:sp>
      <p:sp>
        <p:nvSpPr>
          <p:cNvPr id="9" name="Text 7"/>
          <p:cNvSpPr/>
          <p:nvPr/>
        </p:nvSpPr>
        <p:spPr>
          <a:xfrm>
            <a:off x="7635240" y="2606040"/>
            <a:ext cx="1417320" cy="402336"/>
          </a:xfrm>
          <a:prstGeom prst="rect">
            <a:avLst/>
          </a:prstGeom>
          <a:solidFill>
            <a:srgbClr val="F77764"/>
          </a:solidFill>
          <a:ln>
            <a:solidFill>
              <a:srgbClr val="F77764">
                <a:alpha val="0"/>
              </a:srgbClr>
            </a:solidFill>
          </a:ln>
        </p:spPr>
        <p:txBody>
          <a:bodyPr wrap="square" lIns="1016" tIns="1016" rIns="1016" bIns="1016" rtlCol="0" anchor="ctr"/>
          <a:lstStyle/>
          <a:p>
            <a:pPr marL="0" indent="0" algn="ctr">
              <a:buNone/>
            </a:pPr>
            <a:r>
              <a:rPr lang="en-US" sz="1300" b="1" dirty="0">
                <a:solidFill>
                  <a:srgbClr val="FFFFFF"/>
                </a:solidFill>
              </a:rPr>
              <a:t>At Risk</a:t>
            </a:r>
            <a:endParaRPr lang="en-US" sz="1300" dirty="0"/>
          </a:p>
        </p:txBody>
      </p:sp>
      <p:sp>
        <p:nvSpPr>
          <p:cNvPr id="10" name="Text 8"/>
          <p:cNvSpPr/>
          <p:nvPr/>
        </p:nvSpPr>
        <p:spPr>
          <a:xfrm>
            <a:off x="5669280" y="3977640"/>
            <a:ext cx="1417320" cy="402336"/>
          </a:xfrm>
          <a:prstGeom prst="rect">
            <a:avLst/>
          </a:prstGeom>
          <a:solidFill>
            <a:srgbClr val="4B5563"/>
          </a:solidFill>
          <a:ln>
            <a:solidFill>
              <a:srgbClr val="4B5563">
                <a:alpha val="0"/>
              </a:srgbClr>
            </a:solidFill>
          </a:ln>
        </p:spPr>
        <p:txBody>
          <a:bodyPr wrap="square" lIns="1016" tIns="1016" rIns="1016" bIns="1016" rtlCol="0" anchor="ctr"/>
          <a:lstStyle/>
          <a:p>
            <a:pPr marL="0" indent="0" algn="ctr">
              <a:buNone/>
            </a:pPr>
            <a:r>
              <a:rPr lang="en-US" sz="1300" b="1" dirty="0">
                <a:solidFill>
                  <a:srgbClr val="FFFFFF"/>
                </a:solidFill>
              </a:rPr>
              <a:t>Low Value</a:t>
            </a:r>
            <a:endParaRPr lang="en-US" sz="1300" dirty="0"/>
          </a:p>
        </p:txBody>
      </p:sp>
      <p:sp>
        <p:nvSpPr>
          <p:cNvPr id="11" name="Text 9"/>
          <p:cNvSpPr/>
          <p:nvPr/>
        </p:nvSpPr>
        <p:spPr>
          <a:xfrm>
            <a:off x="5257800" y="2852928"/>
            <a:ext cx="1463040" cy="713232"/>
          </a:xfrm>
          <a:prstGeom prst="rect">
            <a:avLst/>
          </a:prstGeom>
          <a:noFill/>
        </p:spPr>
        <p:txBody>
          <a:bodyPr wrap="square" lIns="254" tIns="254" rIns="254" bIns="254" rtlCol="0" anchor="ctr"/>
          <a:lstStyle/>
          <a:p>
            <a:pPr marL="0" indent="0" algn="ctr">
              <a:buNone/>
            </a:pPr>
            <a:r>
              <a:rPr lang="en-US" sz="1800" b="1" dirty="0">
                <a:solidFill>
                  <a:srgbClr val="14365D"/>
                </a:solidFill>
              </a:rPr>
              <a:t>Customer</a:t>
            </a:r>
            <a:endParaRPr lang="en-US" sz="1800" dirty="0"/>
          </a:p>
          <a:p>
            <a:pPr marL="0" indent="0" algn="ctr">
              <a:buNone/>
            </a:pPr>
            <a:r>
              <a:rPr lang="en-US" sz="1800" b="1" dirty="0">
                <a:solidFill>
                  <a:srgbClr val="14365D"/>
                </a:solidFill>
              </a:rPr>
              <a:t>Segments</a:t>
            </a:r>
            <a:endParaRPr lang="en-US" sz="1800" dirty="0"/>
          </a:p>
        </p:txBody>
      </p:sp>
      <p:sp>
        <p:nvSpPr>
          <p:cNvPr id="12" name="Text 10"/>
          <p:cNvSpPr/>
          <p:nvPr/>
        </p:nvSpPr>
        <p:spPr>
          <a:xfrm>
            <a:off x="1463040" y="5010912"/>
            <a:ext cx="9098280" cy="438912"/>
          </a:xfrm>
          <a:prstGeom prst="rect">
            <a:avLst/>
          </a:prstGeom>
          <a:solidFill>
            <a:srgbClr val="14365D"/>
          </a:solidFill>
          <a:ln>
            <a:solidFill>
              <a:srgbClr val="14365D">
                <a:alpha val="0"/>
              </a:srgbClr>
            </a:solidFill>
          </a:ln>
        </p:spPr>
        <p:txBody>
          <a:bodyPr wrap="square" lIns="635" tIns="635" rIns="635" bIns="635" rtlCol="0" anchor="ctr"/>
          <a:lstStyle/>
          <a:p>
            <a:pPr marL="0" indent="0" algn="ctr">
              <a:buNone/>
            </a:pPr>
            <a:r>
              <a:rPr lang="en-US" sz="1600" b="1" dirty="0">
                <a:solidFill>
                  <a:srgbClr val="FFFFFF"/>
                </a:solidFill>
              </a:rPr>
              <a:t>Possible actions: loyalty rewards, win-back campaigns, onboarding offers, and cost-efficient marketing.</a:t>
            </a:r>
            <a:endParaRPr lang="en-US" sz="1600" dirty="0"/>
          </a:p>
        </p:txBody>
      </p:sp>
      <p:sp>
        <p:nvSpPr>
          <p:cNvPr id="13" name="Text 11"/>
          <p:cNvSpPr/>
          <p:nvPr/>
        </p:nvSpPr>
        <p:spPr>
          <a:xfrm>
            <a:off x="566928" y="6473952"/>
            <a:ext cx="5669280" cy="201168"/>
          </a:xfrm>
          <a:prstGeom prst="rect">
            <a:avLst/>
          </a:prstGeom>
          <a:noFill/>
        </p:spPr>
        <p:txBody>
          <a:bodyPr wrap="square" lIns="0" tIns="0" rIns="0" bIns="0" rtlCol="0" anchor="ctr"/>
          <a:lstStyle/>
          <a:p>
            <a:pPr marL="0" indent="0">
              <a:buNone/>
            </a:pPr>
            <a:r>
              <a:rPr lang="en-US" sz="850" dirty="0">
                <a:solidFill>
                  <a:srgbClr val="FFFFFF"/>
                </a:solidFill>
              </a:rPr>
              <a:t>RFM Customer Segmentation using K-Means</a:t>
            </a:r>
            <a:endParaRPr lang="en-US" sz="850" dirty="0"/>
          </a:p>
        </p:txBody>
      </p:sp>
      <p:sp>
        <p:nvSpPr>
          <p:cNvPr id="14" name="Text 12"/>
          <p:cNvSpPr/>
          <p:nvPr/>
        </p:nvSpPr>
        <p:spPr>
          <a:xfrm>
            <a:off x="11292840" y="6473952"/>
            <a:ext cx="320040" cy="201168"/>
          </a:xfrm>
          <a:prstGeom prst="rect">
            <a:avLst/>
          </a:prstGeom>
          <a:noFill/>
        </p:spPr>
        <p:txBody>
          <a:bodyPr wrap="square" lIns="0" tIns="0" rIns="0" bIns="0" rtlCol="0" anchor="ctr"/>
          <a:lstStyle/>
          <a:p>
            <a:pPr marL="0" indent="0" algn="r">
              <a:buNone/>
            </a:pPr>
            <a:r>
              <a:rPr lang="en-US" sz="850" dirty="0">
                <a:solidFill>
                  <a:srgbClr val="FFFFFF"/>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6355080"/>
            <a:ext cx="12191695" cy="502920"/>
          </a:xfrm>
          <a:prstGeom prst="rect">
            <a:avLst/>
          </a:prstGeom>
          <a:solidFill>
            <a:srgbClr val="14365D"/>
          </a:solidFill>
          <a:ln w="12700">
            <a:solidFill>
              <a:srgbClr val="14365D">
                <a:alpha val="0"/>
              </a:srgbClr>
            </a:solidFill>
            <a:prstDash val="solid"/>
          </a:ln>
        </p:spPr>
      </p:sp>
      <p:sp>
        <p:nvSpPr>
          <p:cNvPr id="4" name="Text 2"/>
          <p:cNvSpPr/>
          <p:nvPr/>
        </p:nvSpPr>
        <p:spPr>
          <a:xfrm>
            <a:off x="658368" y="384048"/>
            <a:ext cx="8046720" cy="502920"/>
          </a:xfrm>
          <a:prstGeom prst="rect">
            <a:avLst/>
          </a:prstGeom>
          <a:noFill/>
        </p:spPr>
        <p:txBody>
          <a:bodyPr wrap="square" lIns="0" tIns="0" rIns="0" bIns="0" rtlCol="0" anchor="ctr"/>
          <a:lstStyle/>
          <a:p>
            <a:pPr marL="0" indent="0">
              <a:buNone/>
            </a:pPr>
            <a:r>
              <a:rPr lang="en-US" sz="2900" b="1" dirty="0">
                <a:solidFill>
                  <a:srgbClr val="14365D"/>
                </a:solidFill>
                <a:latin typeface="Aptos Display" pitchFamily="34" charset="0"/>
                <a:ea typeface="Aptos Display" pitchFamily="34" charset="-122"/>
                <a:cs typeface="Aptos Display" pitchFamily="34" charset="-120"/>
              </a:rPr>
              <a:t>Conclusion</a:t>
            </a:r>
            <a:endParaRPr lang="en-US" sz="2900" dirty="0"/>
          </a:p>
        </p:txBody>
      </p:sp>
      <p:sp>
        <p:nvSpPr>
          <p:cNvPr id="5" name="Text 3"/>
          <p:cNvSpPr/>
          <p:nvPr/>
        </p:nvSpPr>
        <p:spPr>
          <a:xfrm>
            <a:off x="676656" y="932688"/>
            <a:ext cx="7132320" cy="292608"/>
          </a:xfrm>
          <a:prstGeom prst="rect">
            <a:avLst/>
          </a:prstGeom>
          <a:noFill/>
        </p:spPr>
        <p:txBody>
          <a:bodyPr wrap="square" lIns="0" tIns="0" rIns="0" bIns="0" rtlCol="0" anchor="ctr"/>
          <a:lstStyle/>
          <a:p>
            <a:pPr marL="0" indent="0">
              <a:buNone/>
            </a:pPr>
            <a:r>
              <a:rPr lang="en-US" sz="1250" dirty="0">
                <a:solidFill>
                  <a:srgbClr val="4B5563"/>
                </a:solidFill>
              </a:rPr>
              <a:t>Research value of the proposed approach</a:t>
            </a:r>
            <a:endParaRPr lang="en-US" sz="1250" dirty="0"/>
          </a:p>
        </p:txBody>
      </p:sp>
      <p:sp>
        <p:nvSpPr>
          <p:cNvPr id="6" name="Text 4"/>
          <p:cNvSpPr/>
          <p:nvPr/>
        </p:nvSpPr>
        <p:spPr>
          <a:xfrm>
            <a:off x="960120" y="1508760"/>
            <a:ext cx="9418320" cy="658368"/>
          </a:xfrm>
          <a:prstGeom prst="rect">
            <a:avLst/>
          </a:prstGeom>
          <a:noFill/>
        </p:spPr>
        <p:txBody>
          <a:bodyPr wrap="square" lIns="0" tIns="0" rIns="0" bIns="0" rtlCol="0" anchor="ctr"/>
          <a:lstStyle/>
          <a:p>
            <a:pPr marL="0" indent="0" algn="ctr">
              <a:buNone/>
            </a:pPr>
            <a:r>
              <a:rPr lang="en-US" sz="3000" b="1" dirty="0">
                <a:solidFill>
                  <a:srgbClr val="14365D"/>
                </a:solidFill>
              </a:rPr>
              <a:t>RFM + K-Means turns transaction data into business insight.</a:t>
            </a:r>
            <a:endParaRPr lang="en-US" sz="3000" dirty="0"/>
          </a:p>
        </p:txBody>
      </p:sp>
      <p:sp>
        <p:nvSpPr>
          <p:cNvPr id="7" name="Text 5"/>
          <p:cNvSpPr/>
          <p:nvPr/>
        </p:nvSpPr>
        <p:spPr>
          <a:xfrm>
            <a:off x="1828800" y="2487168"/>
            <a:ext cx="7772400" cy="786384"/>
          </a:xfrm>
          <a:prstGeom prst="rect">
            <a:avLst/>
          </a:prstGeom>
          <a:noFill/>
        </p:spPr>
        <p:txBody>
          <a:bodyPr wrap="square" lIns="381" tIns="381" rIns="381" bIns="381" rtlCol="0" anchor="ctr"/>
          <a:lstStyle/>
          <a:p>
            <a:pPr marL="0" indent="0" algn="ctr">
              <a:buNone/>
            </a:pPr>
            <a:r>
              <a:rPr lang="en-US" sz="1800" dirty="0">
                <a:solidFill>
                  <a:srgbClr val="111827"/>
                </a:solidFill>
              </a:rPr>
              <a:t>It supports customer understanding, personalized marketing, retention planning, and data-driven decision-making.</a:t>
            </a:r>
            <a:endParaRPr lang="en-US" sz="1800" dirty="0"/>
          </a:p>
        </p:txBody>
      </p:sp>
      <p:sp>
        <p:nvSpPr>
          <p:cNvPr id="8" name="Text 6"/>
          <p:cNvSpPr/>
          <p:nvPr/>
        </p:nvSpPr>
        <p:spPr>
          <a:xfrm>
            <a:off x="1097280" y="4069080"/>
            <a:ext cx="9509760" cy="512064"/>
          </a:xfrm>
          <a:prstGeom prst="rect">
            <a:avLst/>
          </a:prstGeom>
          <a:solidFill>
            <a:srgbClr val="1D7C80"/>
          </a:solidFill>
          <a:ln>
            <a:solidFill>
              <a:srgbClr val="1D7C80">
                <a:alpha val="0"/>
              </a:srgbClr>
            </a:solidFill>
          </a:ln>
        </p:spPr>
        <p:txBody>
          <a:bodyPr wrap="square" lIns="635" tIns="635" rIns="635" bIns="635" rtlCol="0" anchor="ctr"/>
          <a:lstStyle/>
          <a:p>
            <a:pPr marL="0" indent="0" algn="ctr">
              <a:buNone/>
            </a:pPr>
            <a:r>
              <a:rPr lang="en-US" sz="1700" b="1" dirty="0">
                <a:solidFill>
                  <a:srgbClr val="FFFFFF"/>
                </a:solidFill>
              </a:rPr>
              <a:t>Next phase: implement the model, validate clusters, visualize results, and optionally add a Streamlit dashboard.</a:t>
            </a:r>
            <a:endParaRPr lang="en-US" sz="1700" dirty="0"/>
          </a:p>
        </p:txBody>
      </p:sp>
      <p:sp>
        <p:nvSpPr>
          <p:cNvPr id="9" name="Text 7"/>
          <p:cNvSpPr/>
          <p:nvPr/>
        </p:nvSpPr>
        <p:spPr>
          <a:xfrm>
            <a:off x="4709160" y="5074920"/>
            <a:ext cx="2651760" cy="411480"/>
          </a:xfrm>
          <a:prstGeom prst="rect">
            <a:avLst/>
          </a:prstGeom>
          <a:noFill/>
        </p:spPr>
        <p:txBody>
          <a:bodyPr wrap="square" lIns="0" tIns="0" rIns="0" bIns="0" rtlCol="0" anchor="ctr"/>
          <a:lstStyle/>
          <a:p>
            <a:pPr marL="0" indent="0" algn="ctr">
              <a:buNone/>
            </a:pPr>
            <a:r>
              <a:rPr lang="en-US" sz="2400" b="1" dirty="0">
                <a:solidFill>
                  <a:srgbClr val="F77764"/>
                </a:solidFill>
              </a:rPr>
              <a:t>Thank you</a:t>
            </a:r>
            <a:endParaRPr lang="en-US" sz="2400" dirty="0"/>
          </a:p>
        </p:txBody>
      </p:sp>
      <p:sp>
        <p:nvSpPr>
          <p:cNvPr id="10" name="Text 8"/>
          <p:cNvSpPr/>
          <p:nvPr/>
        </p:nvSpPr>
        <p:spPr>
          <a:xfrm>
            <a:off x="566928" y="6473952"/>
            <a:ext cx="5669280" cy="201168"/>
          </a:xfrm>
          <a:prstGeom prst="rect">
            <a:avLst/>
          </a:prstGeom>
          <a:noFill/>
        </p:spPr>
        <p:txBody>
          <a:bodyPr wrap="square" lIns="0" tIns="0" rIns="0" bIns="0" rtlCol="0" anchor="ctr"/>
          <a:lstStyle/>
          <a:p>
            <a:pPr marL="0" indent="0">
              <a:buNone/>
            </a:pPr>
            <a:r>
              <a:rPr lang="en-US" sz="850" dirty="0">
                <a:solidFill>
                  <a:srgbClr val="FFFFFF"/>
                </a:solidFill>
              </a:rPr>
              <a:t>RFM Customer Segmentation using K-Means</a:t>
            </a:r>
            <a:endParaRPr lang="en-US" sz="850" dirty="0"/>
          </a:p>
        </p:txBody>
      </p:sp>
      <p:sp>
        <p:nvSpPr>
          <p:cNvPr id="11" name="Text 9"/>
          <p:cNvSpPr/>
          <p:nvPr/>
        </p:nvSpPr>
        <p:spPr>
          <a:xfrm>
            <a:off x="11292840" y="6473952"/>
            <a:ext cx="320040" cy="201168"/>
          </a:xfrm>
          <a:prstGeom prst="rect">
            <a:avLst/>
          </a:prstGeom>
          <a:noFill/>
        </p:spPr>
        <p:txBody>
          <a:bodyPr wrap="square" lIns="0" tIns="0" rIns="0" bIns="0" rtlCol="0" anchor="ctr"/>
          <a:lstStyle/>
          <a:p>
            <a:pPr marL="0" indent="0" algn="r">
              <a:buNone/>
            </a:pPr>
            <a:r>
              <a:rPr lang="en-US" sz="850" dirty="0">
                <a:solidFill>
                  <a:srgbClr val="FFFFFF"/>
                </a:solidFill>
              </a:rPr>
              <a:t>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2502</Words>
  <Application>WPS Writer</Application>
  <PresentationFormat>On-screen Show (16:9)</PresentationFormat>
  <Paragraphs>178</Paragraphs>
  <Slides>7</Slides>
  <Notes>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vt:i4>
      </vt:variant>
    </vt:vector>
  </HeadingPairs>
  <TitlesOfParts>
    <vt:vector size="21" baseType="lpstr">
      <vt:lpstr>Arial</vt:lpstr>
      <vt:lpstr>SimSun</vt:lpstr>
      <vt:lpstr>Wingdings</vt:lpstr>
      <vt:lpstr>Aptos Display</vt:lpstr>
      <vt:lpstr>Helvetica Neue</vt:lpstr>
      <vt:lpstr>Aptos Display</vt:lpstr>
      <vt:lpstr>Aptos Display</vt:lpstr>
      <vt:lpstr>Aptos</vt:lpstr>
      <vt:lpstr>Microsoft YaHei</vt:lpstr>
      <vt:lpstr>汉仪旗黑</vt:lpstr>
      <vt:lpstr>Arial Unicode MS</vt:lpstr>
      <vt:lpstr>Calibri</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University Project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RFM Customer Segmentation using K-Means</dc:title>
  <dc:creator>OpenAI</dc:creator>
  <dc:subject>RFM Customer Segmentation using K-Means</dc:subject>
  <cp:lastModifiedBy>aswathyk</cp:lastModifiedBy>
  <cp:revision>2</cp:revision>
  <dcterms:created xsi:type="dcterms:W3CDTF">2026-05-28T17:35:01Z</dcterms:created>
  <dcterms:modified xsi:type="dcterms:W3CDTF">2026-05-28T17:35:01Z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DFE58B4D90275618C57C186A1461E33E_43</vt:lpwstr>
  </property>
  <property fmtid="{D5CDD505-2E9C-101B-9397-08002B2CF9AE}" pid="3" name="KSOProductBuildVer">
    <vt:lpwstr>1033-12.1.23155.23155</vt:lpwstr>
  </property>
</Properties>
</file>